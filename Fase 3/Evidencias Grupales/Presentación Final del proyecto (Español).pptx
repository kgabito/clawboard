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Poppins"/>
      <p:bold r:id="rId25"/>
      <p:boldItalic r:id="rId26"/>
    </p:embeddedFont>
    <p:embeddedFont>
      <p:font typeface="Barlow Medium"/>
      <p:regular r:id="rId27"/>
      <p:bold r:id="rId28"/>
      <p:italic r:id="rId29"/>
      <p:boldItalic r:id="rId30"/>
    </p:embeddedFont>
    <p:embeddedFont>
      <p:font typeface="Barlow"/>
      <p:regular r:id="rId31"/>
      <p:bold r:id="rId32"/>
      <p:italic r:id="rId33"/>
      <p:boldItalic r:id="rId34"/>
    </p:embeddedFont>
    <p:embeddedFont>
      <p:font typeface="Open Sans"/>
      <p:bold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7" roundtripDataSignature="AMtx7mh5FozX54oR07/cCTHgzLgAftu5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bold.fntdata"/><Relationship Id="rId28" Type="http://schemas.openxmlformats.org/officeDocument/2006/relationships/font" Target="fonts/BarlowMedium-bold.fntdata"/><Relationship Id="rId27" Type="http://schemas.openxmlformats.org/officeDocument/2006/relationships/font" Target="fonts/Barlow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arlow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-regular.fntdata"/><Relationship Id="rId30" Type="http://schemas.openxmlformats.org/officeDocument/2006/relationships/font" Target="fonts/Barlow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Barlow-italic.fntdata"/><Relationship Id="rId10" Type="http://schemas.openxmlformats.org/officeDocument/2006/relationships/slide" Target="slides/slide5.xml"/><Relationship Id="rId32" Type="http://schemas.openxmlformats.org/officeDocument/2006/relationships/font" Target="fonts/Barlow-bold.fntdata"/><Relationship Id="rId13" Type="http://schemas.openxmlformats.org/officeDocument/2006/relationships/slide" Target="slides/slide8.xml"/><Relationship Id="rId35" Type="http://schemas.openxmlformats.org/officeDocument/2006/relationships/font" Target="fonts/OpenSans-bold.fntdata"/><Relationship Id="rId12" Type="http://schemas.openxmlformats.org/officeDocument/2006/relationships/slide" Target="slides/slide7.xml"/><Relationship Id="rId34" Type="http://schemas.openxmlformats.org/officeDocument/2006/relationships/font" Target="fonts/Barlow-boldItalic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bb02e0f4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abb02e0f4c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2.jp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9.png"/><Relationship Id="rId7" Type="http://schemas.openxmlformats.org/officeDocument/2006/relationships/image" Target="../media/image12.png"/><Relationship Id="rId8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hyperlink" Target="http://drive.google.com/file/d/116LG812wUjTuBDYJ_NNWxwdh1KLDIA0M/view" TargetMode="External"/><Relationship Id="rId5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B28"/>
            </a:gs>
            <a:gs pos="100000">
              <a:srgbClr val="060417"/>
            </a:gs>
          </a:gsLst>
          <a:lin ang="27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7259300" y="-144661"/>
            <a:ext cx="1028700" cy="1173361"/>
            <a:chOff x="0" y="-38100"/>
            <a:chExt cx="270933" cy="30903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270933" cy="270933"/>
            </a:xfrm>
            <a:custGeom>
              <a:rect b="b" l="l" r="r" t="t"/>
              <a:pathLst>
                <a:path extrusionOk="0"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17747432" y="8433795"/>
            <a:ext cx="540568" cy="824505"/>
            <a:chOff x="0" y="-38100"/>
            <a:chExt cx="72536" cy="110636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89" name="Google Shape;89;p1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>
            <a:off x="17747432" y="7893227"/>
            <a:ext cx="540568" cy="824505"/>
            <a:chOff x="0" y="-38100"/>
            <a:chExt cx="72536" cy="110636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"/>
          <p:cNvGrpSpPr/>
          <p:nvPr/>
        </p:nvGrpSpPr>
        <p:grpSpPr>
          <a:xfrm>
            <a:off x="0" y="2857245"/>
            <a:ext cx="17259300" cy="3740931"/>
            <a:chOff x="0" y="-38100"/>
            <a:chExt cx="4545659" cy="985266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4545659" cy="947166"/>
            </a:xfrm>
            <a:custGeom>
              <a:rect b="b" l="l" r="r" t="t"/>
              <a:pathLst>
                <a:path extrusionOk="0" h="947166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947166"/>
                  </a:lnTo>
                  <a:lnTo>
                    <a:pt x="0" y="947166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95" name="Google Shape;95;p1"/>
            <p:cNvSpPr txBox="1"/>
            <p:nvPr/>
          </p:nvSpPr>
          <p:spPr>
            <a:xfrm>
              <a:off x="0" y="-38100"/>
              <a:ext cx="4545659" cy="9852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0" y="2857245"/>
            <a:ext cx="3596270" cy="3740931"/>
            <a:chOff x="0" y="-38100"/>
            <a:chExt cx="947166" cy="985266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947166" cy="947166"/>
            </a:xfrm>
            <a:custGeom>
              <a:rect b="b" l="l" r="r" t="t"/>
              <a:pathLst>
                <a:path extrusionOk="0" h="947166" w="947166">
                  <a:moveTo>
                    <a:pt x="0" y="0"/>
                  </a:moveTo>
                  <a:lnTo>
                    <a:pt x="947166" y="0"/>
                  </a:lnTo>
                  <a:lnTo>
                    <a:pt x="947166" y="947166"/>
                  </a:lnTo>
                  <a:lnTo>
                    <a:pt x="0" y="947166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98" name="Google Shape;98;p1"/>
            <p:cNvSpPr txBox="1"/>
            <p:nvPr/>
          </p:nvSpPr>
          <p:spPr>
            <a:xfrm>
              <a:off x="0" y="-38100"/>
              <a:ext cx="947166" cy="9852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1"/>
          <p:cNvSpPr txBox="1"/>
          <p:nvPr/>
        </p:nvSpPr>
        <p:spPr>
          <a:xfrm>
            <a:off x="3594518" y="3100197"/>
            <a:ext cx="12346325" cy="3142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7" u="none" cap="none" strike="noStrike">
                <a:solidFill>
                  <a:srgbClr val="00FFEC"/>
                </a:solidFill>
                <a:latin typeface="Poppins"/>
                <a:ea typeface="Poppins"/>
                <a:cs typeface="Poppins"/>
                <a:sym typeface="Poppins"/>
              </a:rPr>
              <a:t>PROYECTO “CLAWBOARD”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795384" y="3797289"/>
            <a:ext cx="2005503" cy="2005503"/>
          </a:xfrm>
          <a:custGeom>
            <a:rect b="b" l="l" r="r" t="t"/>
            <a:pathLst>
              <a:path extrusionOk="0" h="2005503" w="2005503">
                <a:moveTo>
                  <a:pt x="0" y="0"/>
                </a:moveTo>
                <a:lnTo>
                  <a:pt x="2005503" y="0"/>
                </a:lnTo>
                <a:lnTo>
                  <a:pt x="2005503" y="2005503"/>
                </a:lnTo>
                <a:lnTo>
                  <a:pt x="0" y="20055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2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"/>
          <p:cNvSpPr txBox="1"/>
          <p:nvPr/>
        </p:nvSpPr>
        <p:spPr>
          <a:xfrm>
            <a:off x="6206982" y="7598250"/>
            <a:ext cx="6415352" cy="51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FINAL CAPSTONE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11478228" y="1205498"/>
            <a:ext cx="6056377" cy="1077626"/>
          </a:xfrm>
          <a:custGeom>
            <a:rect b="b" l="l" r="r" t="t"/>
            <a:pathLst>
              <a:path extrusionOk="0" h="1077626" w="6056377">
                <a:moveTo>
                  <a:pt x="0" y="0"/>
                </a:moveTo>
                <a:lnTo>
                  <a:pt x="6056377" y="0"/>
                </a:lnTo>
                <a:lnTo>
                  <a:pt x="6056377" y="1077626"/>
                </a:lnTo>
                <a:lnTo>
                  <a:pt x="0" y="1077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B28"/>
            </a:gs>
            <a:gs pos="100000">
              <a:srgbClr val="060417"/>
            </a:gs>
          </a:gsLst>
          <a:lin ang="2700000" scaled="0"/>
        </a:gra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0" y="-144661"/>
            <a:ext cx="18288000" cy="1173361"/>
            <a:chOff x="0" y="-38100"/>
            <a:chExt cx="4816593" cy="309033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109" name="Google Shape;109;p2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2"/>
          <p:cNvGrpSpPr/>
          <p:nvPr/>
        </p:nvGrpSpPr>
        <p:grpSpPr>
          <a:xfrm>
            <a:off x="17259300" y="-144661"/>
            <a:ext cx="1028700" cy="1173361"/>
            <a:chOff x="0" y="-38100"/>
            <a:chExt cx="270933" cy="309033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270933" cy="270933"/>
            </a:xfrm>
            <a:custGeom>
              <a:rect b="b" l="l" r="r" t="t"/>
              <a:pathLst>
                <a:path extrusionOk="0"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2"/>
          <p:cNvGrpSpPr/>
          <p:nvPr/>
        </p:nvGrpSpPr>
        <p:grpSpPr>
          <a:xfrm>
            <a:off x="17747432" y="8433795"/>
            <a:ext cx="540568" cy="824505"/>
            <a:chOff x="0" y="-38100"/>
            <a:chExt cx="72536" cy="110636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115" name="Google Shape;115;p2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>
            <a:off x="17747432" y="7893227"/>
            <a:ext cx="540568" cy="824505"/>
            <a:chOff x="0" y="-38100"/>
            <a:chExt cx="72536" cy="110636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118" name="Google Shape;118;p2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2584281" y="2818152"/>
            <a:ext cx="5881875" cy="6946084"/>
            <a:chOff x="0" y="-38100"/>
            <a:chExt cx="1129046" cy="1333325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1129046" cy="1295225"/>
            </a:xfrm>
            <a:custGeom>
              <a:rect b="b" l="l" r="r" t="t"/>
              <a:pathLst>
                <a:path extrusionOk="0" h="1295225" w="1129046">
                  <a:moveTo>
                    <a:pt x="0" y="0"/>
                  </a:moveTo>
                  <a:lnTo>
                    <a:pt x="1129046" y="0"/>
                  </a:lnTo>
                  <a:lnTo>
                    <a:pt x="1129046" y="1295225"/>
                  </a:lnTo>
                  <a:lnTo>
                    <a:pt x="0" y="1295225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121" name="Google Shape;121;p2"/>
            <p:cNvSpPr txBox="1"/>
            <p:nvPr/>
          </p:nvSpPr>
          <p:spPr>
            <a:xfrm>
              <a:off x="0" y="-38100"/>
              <a:ext cx="1129046" cy="1333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2"/>
          <p:cNvSpPr txBox="1"/>
          <p:nvPr/>
        </p:nvSpPr>
        <p:spPr>
          <a:xfrm>
            <a:off x="3648550" y="7216847"/>
            <a:ext cx="3753338" cy="438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20" u="none" cap="none" strike="noStrike">
                <a:solidFill>
                  <a:srgbClr val="00FFEC"/>
                </a:solidFill>
                <a:latin typeface="Open Sans"/>
                <a:ea typeface="Open Sans"/>
                <a:cs typeface="Open Sans"/>
                <a:sym typeface="Open Sans"/>
              </a:rPr>
              <a:t>Gabriel Serrano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3433146" y="7870136"/>
            <a:ext cx="4184145" cy="571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7740" lvl="1" marL="355479" marR="0" rtl="0" algn="ctr">
              <a:lnSpc>
                <a:spcPct val="1401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45"/>
              <a:buFont typeface="Arial"/>
              <a:buChar char="•"/>
            </a:pPr>
            <a:r>
              <a:rPr b="0" i="0" lang="en-US" sz="164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Coordinador de proyecto</a:t>
            </a:r>
            <a:endParaRPr/>
          </a:p>
          <a:p>
            <a:pPr indent="-177740" lvl="1" marL="355479" marR="0" rtl="0" algn="ctr">
              <a:lnSpc>
                <a:spcPct val="1401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45"/>
              <a:buFont typeface="Arial"/>
              <a:buChar char="•"/>
            </a:pPr>
            <a:r>
              <a:rPr b="0" i="0" lang="en-US" sz="164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Desarrollador Back-end/Front-end</a:t>
            </a:r>
            <a:endParaRPr/>
          </a:p>
        </p:txBody>
      </p:sp>
      <p:grpSp>
        <p:nvGrpSpPr>
          <p:cNvPr id="124" name="Google Shape;124;p2"/>
          <p:cNvGrpSpPr/>
          <p:nvPr/>
        </p:nvGrpSpPr>
        <p:grpSpPr>
          <a:xfrm>
            <a:off x="9033419" y="2818152"/>
            <a:ext cx="5881875" cy="6946084"/>
            <a:chOff x="0" y="-38100"/>
            <a:chExt cx="1129046" cy="1333325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1129046" cy="1295225"/>
            </a:xfrm>
            <a:custGeom>
              <a:rect b="b" l="l" r="r" t="t"/>
              <a:pathLst>
                <a:path extrusionOk="0" h="1295225" w="1129046">
                  <a:moveTo>
                    <a:pt x="0" y="0"/>
                  </a:moveTo>
                  <a:lnTo>
                    <a:pt x="1129046" y="0"/>
                  </a:lnTo>
                  <a:lnTo>
                    <a:pt x="1129046" y="1295225"/>
                  </a:lnTo>
                  <a:lnTo>
                    <a:pt x="0" y="1295225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38100"/>
              <a:ext cx="1129046" cy="1333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2"/>
          <p:cNvSpPr txBox="1"/>
          <p:nvPr/>
        </p:nvSpPr>
        <p:spPr>
          <a:xfrm>
            <a:off x="10097688" y="7216847"/>
            <a:ext cx="3753338" cy="438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20" u="none" cap="none" strike="noStrike">
                <a:solidFill>
                  <a:srgbClr val="00FFEC"/>
                </a:solidFill>
                <a:latin typeface="Open Sans"/>
                <a:ea typeface="Open Sans"/>
                <a:cs typeface="Open Sans"/>
                <a:sym typeface="Open Sans"/>
              </a:rPr>
              <a:t>Patricia Piñones</a:t>
            </a:r>
            <a:endParaRPr/>
          </a:p>
        </p:txBody>
      </p:sp>
      <p:pic>
        <p:nvPicPr>
          <p:cNvPr id="128" name="Google Shape;128;p2"/>
          <p:cNvPicPr preferRelativeResize="0"/>
          <p:nvPr/>
        </p:nvPicPr>
        <p:blipFill rotWithShape="1">
          <a:blip r:embed="rId3">
            <a:alphaModFix/>
          </a:blip>
          <a:srcRect b="3046" l="0" r="0" t="3047"/>
          <a:stretch/>
        </p:blipFill>
        <p:spPr>
          <a:xfrm>
            <a:off x="3675523" y="3016638"/>
            <a:ext cx="3726365" cy="3499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"/>
          <p:cNvPicPr preferRelativeResize="0"/>
          <p:nvPr/>
        </p:nvPicPr>
        <p:blipFill rotWithShape="1">
          <a:blip r:embed="rId4">
            <a:alphaModFix/>
          </a:blip>
          <a:srcRect b="21905" l="404" r="907" t="21911"/>
          <a:stretch/>
        </p:blipFill>
        <p:spPr>
          <a:xfrm rot="-5400000">
            <a:off x="10190049" y="2992950"/>
            <a:ext cx="3568650" cy="361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"/>
          <p:cNvSpPr txBox="1"/>
          <p:nvPr/>
        </p:nvSpPr>
        <p:spPr>
          <a:xfrm>
            <a:off x="3443285" y="1541621"/>
            <a:ext cx="10623144" cy="1192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61" u="none" cap="none" strike="noStrike">
                <a:solidFill>
                  <a:srgbClr val="00FFEC"/>
                </a:solidFill>
                <a:latin typeface="Poppins"/>
                <a:ea typeface="Poppins"/>
                <a:cs typeface="Poppins"/>
                <a:sym typeface="Poppins"/>
              </a:rPr>
              <a:t>Equipo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10025275" y="7902751"/>
            <a:ext cx="4184145" cy="571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7740" lvl="1" marL="355479" marR="0" rtl="0" algn="ctr">
              <a:lnSpc>
                <a:spcPct val="1401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45"/>
              <a:buFont typeface="Arial"/>
              <a:buChar char="•"/>
            </a:pPr>
            <a:r>
              <a:rPr b="0" i="0" lang="en-US" sz="164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Coordinador de proyecto</a:t>
            </a:r>
            <a:endParaRPr/>
          </a:p>
          <a:p>
            <a:pPr indent="-177740" lvl="1" marL="355479" marR="0" rtl="0" algn="ctr">
              <a:lnSpc>
                <a:spcPct val="1401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45"/>
              <a:buFont typeface="Arial"/>
              <a:buChar char="•"/>
            </a:pPr>
            <a:r>
              <a:rPr b="0" i="0" lang="en-US" sz="164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Desarrollador Back-end/Front-end</a:t>
            </a:r>
            <a:endParaRPr/>
          </a:p>
        </p:txBody>
      </p:sp>
      <p:sp>
        <p:nvSpPr>
          <p:cNvPr id="132" name="Google Shape;132;p2"/>
          <p:cNvSpPr/>
          <p:nvPr/>
        </p:nvSpPr>
        <p:spPr>
          <a:xfrm>
            <a:off x="11478228" y="1205498"/>
            <a:ext cx="6056377" cy="1077626"/>
          </a:xfrm>
          <a:custGeom>
            <a:rect b="b" l="l" r="r" t="t"/>
            <a:pathLst>
              <a:path extrusionOk="0" h="1077626" w="6056377">
                <a:moveTo>
                  <a:pt x="0" y="0"/>
                </a:moveTo>
                <a:lnTo>
                  <a:pt x="6056377" y="0"/>
                </a:lnTo>
                <a:lnTo>
                  <a:pt x="6056377" y="1077626"/>
                </a:lnTo>
                <a:lnTo>
                  <a:pt x="0" y="1077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B28"/>
            </a:gs>
            <a:gs pos="100000">
              <a:srgbClr val="060417"/>
            </a:gs>
          </a:gsLst>
          <a:lin ang="2700000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3"/>
          <p:cNvGrpSpPr/>
          <p:nvPr/>
        </p:nvGrpSpPr>
        <p:grpSpPr>
          <a:xfrm>
            <a:off x="0" y="-144661"/>
            <a:ext cx="18288000" cy="1173361"/>
            <a:chOff x="0" y="-38100"/>
            <a:chExt cx="4816593" cy="309033"/>
          </a:xfrm>
        </p:grpSpPr>
        <p:sp>
          <p:nvSpPr>
            <p:cNvPr id="138" name="Google Shape;138;p3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139" name="Google Shape;139;p3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3"/>
          <p:cNvGrpSpPr/>
          <p:nvPr/>
        </p:nvGrpSpPr>
        <p:grpSpPr>
          <a:xfrm>
            <a:off x="17259300" y="-144661"/>
            <a:ext cx="1028700" cy="1173361"/>
            <a:chOff x="0" y="-38100"/>
            <a:chExt cx="270933" cy="309033"/>
          </a:xfrm>
        </p:grpSpPr>
        <p:sp>
          <p:nvSpPr>
            <p:cNvPr id="141" name="Google Shape;141;p3"/>
            <p:cNvSpPr/>
            <p:nvPr/>
          </p:nvSpPr>
          <p:spPr>
            <a:xfrm>
              <a:off x="0" y="0"/>
              <a:ext cx="270933" cy="270933"/>
            </a:xfrm>
            <a:custGeom>
              <a:rect b="b" l="l" r="r" t="t"/>
              <a:pathLst>
                <a:path extrusionOk="0"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142" name="Google Shape;142;p3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" name="Google Shape;143;p3"/>
          <p:cNvGrpSpPr/>
          <p:nvPr/>
        </p:nvGrpSpPr>
        <p:grpSpPr>
          <a:xfrm>
            <a:off x="17747432" y="8433795"/>
            <a:ext cx="540568" cy="824505"/>
            <a:chOff x="0" y="-38100"/>
            <a:chExt cx="72536" cy="110636"/>
          </a:xfrm>
        </p:grpSpPr>
        <p:sp>
          <p:nvSpPr>
            <p:cNvPr id="144" name="Google Shape;144;p3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145" name="Google Shape;145;p3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3"/>
          <p:cNvGrpSpPr/>
          <p:nvPr/>
        </p:nvGrpSpPr>
        <p:grpSpPr>
          <a:xfrm>
            <a:off x="17747432" y="7893227"/>
            <a:ext cx="540568" cy="824505"/>
            <a:chOff x="0" y="-38100"/>
            <a:chExt cx="72536" cy="110636"/>
          </a:xfrm>
        </p:grpSpPr>
        <p:sp>
          <p:nvSpPr>
            <p:cNvPr id="147" name="Google Shape;147;p3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148" name="Google Shape;148;p3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3"/>
          <p:cNvGrpSpPr/>
          <p:nvPr/>
        </p:nvGrpSpPr>
        <p:grpSpPr>
          <a:xfrm>
            <a:off x="1028700" y="4006714"/>
            <a:ext cx="66161" cy="1001194"/>
            <a:chOff x="0" y="-38100"/>
            <a:chExt cx="12932" cy="195701"/>
          </a:xfrm>
        </p:grpSpPr>
        <p:sp>
          <p:nvSpPr>
            <p:cNvPr id="150" name="Google Shape;150;p3"/>
            <p:cNvSpPr/>
            <p:nvPr/>
          </p:nvSpPr>
          <p:spPr>
            <a:xfrm>
              <a:off x="0" y="0"/>
              <a:ext cx="12932" cy="157601"/>
            </a:xfrm>
            <a:custGeom>
              <a:rect b="b" l="l" r="r" t="t"/>
              <a:pathLst>
                <a:path extrusionOk="0" h="157601" w="12932">
                  <a:moveTo>
                    <a:pt x="0" y="0"/>
                  </a:moveTo>
                  <a:lnTo>
                    <a:pt x="12932" y="0"/>
                  </a:lnTo>
                  <a:lnTo>
                    <a:pt x="12932" y="157601"/>
                  </a:lnTo>
                  <a:lnTo>
                    <a:pt x="0" y="157601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151" name="Google Shape;151;p3"/>
            <p:cNvSpPr txBox="1"/>
            <p:nvPr/>
          </p:nvSpPr>
          <p:spPr>
            <a:xfrm>
              <a:off x="0" y="-38100"/>
              <a:ext cx="12932" cy="195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3"/>
          <p:cNvGrpSpPr/>
          <p:nvPr/>
        </p:nvGrpSpPr>
        <p:grpSpPr>
          <a:xfrm>
            <a:off x="1028700" y="7052739"/>
            <a:ext cx="66161" cy="1001194"/>
            <a:chOff x="0" y="-38100"/>
            <a:chExt cx="12932" cy="195701"/>
          </a:xfrm>
        </p:grpSpPr>
        <p:sp>
          <p:nvSpPr>
            <p:cNvPr id="153" name="Google Shape;153;p3"/>
            <p:cNvSpPr/>
            <p:nvPr/>
          </p:nvSpPr>
          <p:spPr>
            <a:xfrm>
              <a:off x="0" y="0"/>
              <a:ext cx="12932" cy="157601"/>
            </a:xfrm>
            <a:custGeom>
              <a:rect b="b" l="l" r="r" t="t"/>
              <a:pathLst>
                <a:path extrusionOk="0" h="157601" w="12932">
                  <a:moveTo>
                    <a:pt x="0" y="0"/>
                  </a:moveTo>
                  <a:lnTo>
                    <a:pt x="12932" y="0"/>
                  </a:lnTo>
                  <a:lnTo>
                    <a:pt x="12932" y="157601"/>
                  </a:lnTo>
                  <a:lnTo>
                    <a:pt x="0" y="157601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154" name="Google Shape;154;p3"/>
            <p:cNvSpPr txBox="1"/>
            <p:nvPr/>
          </p:nvSpPr>
          <p:spPr>
            <a:xfrm>
              <a:off x="0" y="-38100"/>
              <a:ext cx="12932" cy="195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3"/>
          <p:cNvSpPr/>
          <p:nvPr/>
        </p:nvSpPr>
        <p:spPr>
          <a:xfrm flipH="1" rot="-7702242">
            <a:off x="2501850" y="5499718"/>
            <a:ext cx="1006918" cy="943986"/>
          </a:xfrm>
          <a:custGeom>
            <a:rect b="b" l="l" r="r" t="t"/>
            <a:pathLst>
              <a:path extrusionOk="0" h="943986" w="1006918">
                <a:moveTo>
                  <a:pt x="1006918" y="0"/>
                </a:moveTo>
                <a:lnTo>
                  <a:pt x="0" y="0"/>
                </a:lnTo>
                <a:lnTo>
                  <a:pt x="0" y="943985"/>
                </a:lnTo>
                <a:lnTo>
                  <a:pt x="1006918" y="943985"/>
                </a:lnTo>
                <a:lnTo>
                  <a:pt x="10069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3"/>
          <p:cNvSpPr/>
          <p:nvPr/>
        </p:nvSpPr>
        <p:spPr>
          <a:xfrm>
            <a:off x="11478228" y="1205498"/>
            <a:ext cx="6056377" cy="1077626"/>
          </a:xfrm>
          <a:custGeom>
            <a:rect b="b" l="l" r="r" t="t"/>
            <a:pathLst>
              <a:path extrusionOk="0" h="1077626" w="6056377">
                <a:moveTo>
                  <a:pt x="0" y="0"/>
                </a:moveTo>
                <a:lnTo>
                  <a:pt x="6056377" y="0"/>
                </a:lnTo>
                <a:lnTo>
                  <a:pt x="6056377" y="1077626"/>
                </a:lnTo>
                <a:lnTo>
                  <a:pt x="0" y="1077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3"/>
          <p:cNvSpPr txBox="1"/>
          <p:nvPr/>
        </p:nvSpPr>
        <p:spPr>
          <a:xfrm>
            <a:off x="246842" y="2125335"/>
            <a:ext cx="11913945" cy="101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28" u="none" cap="none" strike="noStrike">
                <a:solidFill>
                  <a:srgbClr val="00FFEC"/>
                </a:solidFill>
                <a:latin typeface="Poppins"/>
                <a:ea typeface="Poppins"/>
                <a:cs typeface="Poppins"/>
                <a:sym typeface="Poppins"/>
              </a:rPr>
              <a:t>DESCRIPCIÓN DEL PROYECTO</a:t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7187402" y="3744494"/>
            <a:ext cx="9136752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1" lvl="1" marL="64770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Herramientas dispersas.</a:t>
            </a:r>
            <a:endParaRPr/>
          </a:p>
          <a:p>
            <a:pPr indent="-323851" lvl="1" marL="64770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Pérdida de información.</a:t>
            </a:r>
            <a:endParaRPr/>
          </a:p>
          <a:p>
            <a:pPr indent="-323851" lvl="1" marL="64770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Falta de organización.</a:t>
            </a:r>
            <a:endParaRPr/>
          </a:p>
          <a:p>
            <a:pPr indent="-323851" lvl="1" marL="64770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Plataformas desconectadas.</a:t>
            </a:r>
            <a:endParaRPr/>
          </a:p>
        </p:txBody>
      </p:sp>
      <p:sp>
        <p:nvSpPr>
          <p:cNvPr id="159" name="Google Shape;159;p3"/>
          <p:cNvSpPr txBox="1"/>
          <p:nvPr/>
        </p:nvSpPr>
        <p:spPr>
          <a:xfrm>
            <a:off x="7248605" y="6867545"/>
            <a:ext cx="9824364" cy="264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Plataforma unificada para estudiantes.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Organización centralizada.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Módulos integrados en un solo lugar.</a:t>
            </a:r>
            <a:endParaRPr/>
          </a:p>
          <a:p>
            <a:pPr indent="-323851" lvl="1" marL="64770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Mayor productividad y colaboración.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1417077" y="4260741"/>
            <a:ext cx="4541600" cy="548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71" u="none" cap="none" strike="noStrike">
                <a:solidFill>
                  <a:srgbClr val="00FFEC"/>
                </a:solidFill>
                <a:latin typeface="Open Sans"/>
                <a:ea typeface="Open Sans"/>
                <a:cs typeface="Open Sans"/>
                <a:sym typeface="Open Sans"/>
              </a:rPr>
              <a:t>SITUACIÓN ACTUAL</a:t>
            </a:r>
            <a:endParaRPr/>
          </a:p>
        </p:txBody>
      </p:sp>
      <p:sp>
        <p:nvSpPr>
          <p:cNvPr id="161" name="Google Shape;161;p3"/>
          <p:cNvSpPr txBox="1"/>
          <p:nvPr/>
        </p:nvSpPr>
        <p:spPr>
          <a:xfrm>
            <a:off x="863423" y="7343408"/>
            <a:ext cx="6385182" cy="548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71" u="none" cap="none" strike="noStrike">
                <a:solidFill>
                  <a:srgbClr val="00FFEC"/>
                </a:solidFill>
                <a:latin typeface="Open Sans"/>
                <a:ea typeface="Open Sans"/>
                <a:cs typeface="Open Sans"/>
                <a:sym typeface="Open Sans"/>
              </a:rPr>
              <a:t>PROPUESTA CLAWBOARD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B28"/>
            </a:gs>
            <a:gs pos="100000">
              <a:srgbClr val="060417"/>
            </a:gs>
          </a:gsLst>
          <a:lin ang="2700000" scaled="0"/>
        </a:gra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4"/>
          <p:cNvGrpSpPr/>
          <p:nvPr/>
        </p:nvGrpSpPr>
        <p:grpSpPr>
          <a:xfrm>
            <a:off x="0" y="-144661"/>
            <a:ext cx="18288000" cy="1173361"/>
            <a:chOff x="0" y="-38100"/>
            <a:chExt cx="4816593" cy="309033"/>
          </a:xfrm>
        </p:grpSpPr>
        <p:sp>
          <p:nvSpPr>
            <p:cNvPr id="167" name="Google Shape;167;p4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168" name="Google Shape;168;p4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4"/>
          <p:cNvGrpSpPr/>
          <p:nvPr/>
        </p:nvGrpSpPr>
        <p:grpSpPr>
          <a:xfrm>
            <a:off x="17259300" y="-144661"/>
            <a:ext cx="1028700" cy="1173361"/>
            <a:chOff x="0" y="-38100"/>
            <a:chExt cx="270933" cy="309033"/>
          </a:xfrm>
        </p:grpSpPr>
        <p:sp>
          <p:nvSpPr>
            <p:cNvPr id="170" name="Google Shape;170;p4"/>
            <p:cNvSpPr/>
            <p:nvPr/>
          </p:nvSpPr>
          <p:spPr>
            <a:xfrm>
              <a:off x="0" y="0"/>
              <a:ext cx="270933" cy="270933"/>
            </a:xfrm>
            <a:custGeom>
              <a:rect b="b" l="l" r="r" t="t"/>
              <a:pathLst>
                <a:path extrusionOk="0"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171" name="Google Shape;171;p4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" name="Google Shape;172;p4"/>
          <p:cNvGrpSpPr/>
          <p:nvPr/>
        </p:nvGrpSpPr>
        <p:grpSpPr>
          <a:xfrm>
            <a:off x="17747432" y="8433795"/>
            <a:ext cx="540568" cy="824505"/>
            <a:chOff x="0" y="-38100"/>
            <a:chExt cx="72536" cy="110636"/>
          </a:xfrm>
        </p:grpSpPr>
        <p:sp>
          <p:nvSpPr>
            <p:cNvPr id="173" name="Google Shape;173;p4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174" name="Google Shape;174;p4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4"/>
          <p:cNvGrpSpPr/>
          <p:nvPr/>
        </p:nvGrpSpPr>
        <p:grpSpPr>
          <a:xfrm>
            <a:off x="17747432" y="7893227"/>
            <a:ext cx="540568" cy="824505"/>
            <a:chOff x="0" y="-38100"/>
            <a:chExt cx="72536" cy="110636"/>
          </a:xfrm>
        </p:grpSpPr>
        <p:sp>
          <p:nvSpPr>
            <p:cNvPr id="176" name="Google Shape;176;p4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177" name="Google Shape;177;p4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4"/>
          <p:cNvSpPr txBox="1"/>
          <p:nvPr/>
        </p:nvSpPr>
        <p:spPr>
          <a:xfrm>
            <a:off x="553922" y="2785785"/>
            <a:ext cx="7078859" cy="908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3" u="none" cap="none" strike="noStrike">
                <a:solidFill>
                  <a:srgbClr val="00FFEC"/>
                </a:solidFill>
                <a:latin typeface="Poppins"/>
                <a:ea typeface="Poppins"/>
                <a:cs typeface="Poppins"/>
                <a:sym typeface="Poppins"/>
              </a:rPr>
              <a:t>Objetivo General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863423" y="4315678"/>
            <a:ext cx="8115300" cy="3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47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Desarrollar una plataforma web que unifique la gestión del estudio de los estudiantes, facilitando su organización, concentración y creación de hábitos académicos efectivos.</a:t>
            </a:r>
            <a:endParaRPr/>
          </a:p>
          <a:p>
            <a:pPr indent="0" lvl="0" marL="0" marR="0" rtl="0" algn="just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47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11478228" y="1205498"/>
            <a:ext cx="6056377" cy="1077626"/>
          </a:xfrm>
          <a:custGeom>
            <a:rect b="b" l="l" r="r" t="t"/>
            <a:pathLst>
              <a:path extrusionOk="0" h="1077626" w="6056377">
                <a:moveTo>
                  <a:pt x="0" y="0"/>
                </a:moveTo>
                <a:lnTo>
                  <a:pt x="6056377" y="0"/>
                </a:lnTo>
                <a:lnTo>
                  <a:pt x="6056377" y="1077626"/>
                </a:lnTo>
                <a:lnTo>
                  <a:pt x="0" y="1077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B28"/>
            </a:gs>
            <a:gs pos="100000">
              <a:srgbClr val="060417"/>
            </a:gs>
          </a:gsLst>
          <a:lin ang="2700000" scaled="0"/>
        </a:gra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5"/>
          <p:cNvGrpSpPr/>
          <p:nvPr/>
        </p:nvGrpSpPr>
        <p:grpSpPr>
          <a:xfrm>
            <a:off x="0" y="-144661"/>
            <a:ext cx="18288000" cy="1173361"/>
            <a:chOff x="0" y="-38100"/>
            <a:chExt cx="4816593" cy="309033"/>
          </a:xfrm>
        </p:grpSpPr>
        <p:sp>
          <p:nvSpPr>
            <p:cNvPr id="186" name="Google Shape;186;p5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187" name="Google Shape;187;p5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5"/>
          <p:cNvGrpSpPr/>
          <p:nvPr/>
        </p:nvGrpSpPr>
        <p:grpSpPr>
          <a:xfrm>
            <a:off x="17259300" y="-144661"/>
            <a:ext cx="1028700" cy="1173361"/>
            <a:chOff x="0" y="-38100"/>
            <a:chExt cx="270933" cy="309033"/>
          </a:xfrm>
        </p:grpSpPr>
        <p:sp>
          <p:nvSpPr>
            <p:cNvPr id="189" name="Google Shape;189;p5"/>
            <p:cNvSpPr/>
            <p:nvPr/>
          </p:nvSpPr>
          <p:spPr>
            <a:xfrm>
              <a:off x="0" y="0"/>
              <a:ext cx="270933" cy="270933"/>
            </a:xfrm>
            <a:custGeom>
              <a:rect b="b" l="l" r="r" t="t"/>
              <a:pathLst>
                <a:path extrusionOk="0"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190" name="Google Shape;190;p5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5"/>
          <p:cNvGrpSpPr/>
          <p:nvPr/>
        </p:nvGrpSpPr>
        <p:grpSpPr>
          <a:xfrm>
            <a:off x="17747432" y="8433795"/>
            <a:ext cx="540568" cy="824505"/>
            <a:chOff x="0" y="-38100"/>
            <a:chExt cx="72536" cy="110636"/>
          </a:xfrm>
        </p:grpSpPr>
        <p:sp>
          <p:nvSpPr>
            <p:cNvPr id="192" name="Google Shape;192;p5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193" name="Google Shape;193;p5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" name="Google Shape;194;p5"/>
          <p:cNvGrpSpPr/>
          <p:nvPr/>
        </p:nvGrpSpPr>
        <p:grpSpPr>
          <a:xfrm>
            <a:off x="17747432" y="7893227"/>
            <a:ext cx="540568" cy="824505"/>
            <a:chOff x="0" y="-38100"/>
            <a:chExt cx="72536" cy="110636"/>
          </a:xfrm>
        </p:grpSpPr>
        <p:sp>
          <p:nvSpPr>
            <p:cNvPr id="195" name="Google Shape;195;p5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196" name="Google Shape;196;p5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5"/>
          <p:cNvSpPr txBox="1"/>
          <p:nvPr/>
        </p:nvSpPr>
        <p:spPr>
          <a:xfrm>
            <a:off x="1036441" y="1640061"/>
            <a:ext cx="8107559" cy="908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3" u="none" cap="none" strike="noStrike">
                <a:solidFill>
                  <a:srgbClr val="00FFEC"/>
                </a:solidFill>
                <a:latin typeface="Poppins"/>
                <a:ea typeface="Poppins"/>
                <a:cs typeface="Poppins"/>
                <a:sym typeface="Poppins"/>
              </a:rPr>
              <a:t>Objetivos Específicos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1036449" y="3053300"/>
            <a:ext cx="15690600" cy="6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2419" lvl="1" marL="561337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99"/>
              <a:buFont typeface="Arial"/>
              <a:buChar char="•"/>
            </a:pPr>
            <a:r>
              <a:rPr b="0" i="0" lang="en-US" sz="30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Implementar un sistema de gestión de usuarios con roles (Admin/Alumno).</a:t>
            </a:r>
            <a:endParaRPr sz="1900"/>
          </a:p>
          <a:p>
            <a:pPr indent="-312419" lvl="1" marL="561337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99"/>
              <a:buFont typeface="Arial"/>
              <a:buChar char="•"/>
            </a:pPr>
            <a:r>
              <a:rPr b="0" i="0" lang="en-US" sz="30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Desarrollar módulos para notas, almacenamiento de archivos y calendario académico.</a:t>
            </a:r>
            <a:endParaRPr sz="1900"/>
          </a:p>
          <a:p>
            <a:pPr indent="-312419" lvl="1" marL="561337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99"/>
              <a:buFont typeface="Arial"/>
              <a:buChar char="•"/>
            </a:pPr>
            <a:r>
              <a:rPr b="0" i="0" lang="en-US" sz="30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Incorporar funcionalidades de apoyo al estudio (</a:t>
            </a:r>
            <a:r>
              <a:rPr lang="en-US" sz="3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calificaciones, calendario, horario).</a:t>
            </a:r>
            <a:r>
              <a:rPr b="0" i="0" lang="en-US" sz="30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900"/>
          </a:p>
          <a:p>
            <a:pPr indent="-312419" lvl="1" marL="561337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99"/>
              <a:buFont typeface="Arial"/>
              <a:buChar char="•"/>
            </a:pPr>
            <a:r>
              <a:rPr b="0" i="0" lang="en-US" sz="30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Garantizar la seguridad y confiabilidad del sistema mediante autenticación y respaldo de datos.</a:t>
            </a:r>
            <a:endParaRPr sz="1900"/>
          </a:p>
          <a:p>
            <a:pPr indent="-312419" lvl="1" marL="561337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99"/>
              <a:buFont typeface="Arial"/>
              <a:buChar char="•"/>
            </a:pPr>
            <a:r>
              <a:rPr b="0" i="0" lang="en-US" sz="30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Fomentar la colaboración entre estudiantes mediante acceso compartido a recursos.</a:t>
            </a:r>
            <a:endParaRPr sz="1900"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11478228" y="1205498"/>
            <a:ext cx="6056377" cy="1077626"/>
          </a:xfrm>
          <a:custGeom>
            <a:rect b="b" l="l" r="r" t="t"/>
            <a:pathLst>
              <a:path extrusionOk="0" h="1077626" w="6056377">
                <a:moveTo>
                  <a:pt x="0" y="0"/>
                </a:moveTo>
                <a:lnTo>
                  <a:pt x="6056377" y="0"/>
                </a:lnTo>
                <a:lnTo>
                  <a:pt x="6056377" y="1077626"/>
                </a:lnTo>
                <a:lnTo>
                  <a:pt x="0" y="1077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B28"/>
            </a:gs>
            <a:gs pos="100000">
              <a:srgbClr val="060417"/>
            </a:gs>
          </a:gsLst>
          <a:lin ang="2700000" scaled="0"/>
        </a:gra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6"/>
          <p:cNvGrpSpPr/>
          <p:nvPr/>
        </p:nvGrpSpPr>
        <p:grpSpPr>
          <a:xfrm>
            <a:off x="0" y="-144661"/>
            <a:ext cx="18288000" cy="1173361"/>
            <a:chOff x="0" y="-38100"/>
            <a:chExt cx="4816593" cy="309033"/>
          </a:xfrm>
        </p:grpSpPr>
        <p:sp>
          <p:nvSpPr>
            <p:cNvPr id="205" name="Google Shape;205;p6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206" name="Google Shape;206;p6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6"/>
          <p:cNvGrpSpPr/>
          <p:nvPr/>
        </p:nvGrpSpPr>
        <p:grpSpPr>
          <a:xfrm>
            <a:off x="17259300" y="-144661"/>
            <a:ext cx="1028700" cy="1173361"/>
            <a:chOff x="0" y="-38100"/>
            <a:chExt cx="270933" cy="309033"/>
          </a:xfrm>
        </p:grpSpPr>
        <p:sp>
          <p:nvSpPr>
            <p:cNvPr id="208" name="Google Shape;208;p6"/>
            <p:cNvSpPr/>
            <p:nvPr/>
          </p:nvSpPr>
          <p:spPr>
            <a:xfrm>
              <a:off x="0" y="0"/>
              <a:ext cx="270933" cy="270933"/>
            </a:xfrm>
            <a:custGeom>
              <a:rect b="b" l="l" r="r" t="t"/>
              <a:pathLst>
                <a:path extrusionOk="0"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209" name="Google Shape;209;p6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6"/>
          <p:cNvGrpSpPr/>
          <p:nvPr/>
        </p:nvGrpSpPr>
        <p:grpSpPr>
          <a:xfrm>
            <a:off x="17747432" y="8433795"/>
            <a:ext cx="540568" cy="824505"/>
            <a:chOff x="0" y="-38100"/>
            <a:chExt cx="72536" cy="110636"/>
          </a:xfrm>
        </p:grpSpPr>
        <p:sp>
          <p:nvSpPr>
            <p:cNvPr id="211" name="Google Shape;211;p6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212" name="Google Shape;212;p6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6"/>
          <p:cNvGrpSpPr/>
          <p:nvPr/>
        </p:nvGrpSpPr>
        <p:grpSpPr>
          <a:xfrm>
            <a:off x="17747432" y="7893227"/>
            <a:ext cx="540568" cy="824505"/>
            <a:chOff x="0" y="-38100"/>
            <a:chExt cx="72536" cy="110636"/>
          </a:xfrm>
        </p:grpSpPr>
        <p:sp>
          <p:nvSpPr>
            <p:cNvPr id="214" name="Google Shape;214;p6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215" name="Google Shape;215;p6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6"/>
          <p:cNvSpPr txBox="1"/>
          <p:nvPr/>
        </p:nvSpPr>
        <p:spPr>
          <a:xfrm>
            <a:off x="570526" y="1341876"/>
            <a:ext cx="10041515" cy="264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3" u="none" cap="none" strike="noStrike">
                <a:solidFill>
                  <a:srgbClr val="00FFEC"/>
                </a:solidFill>
                <a:latin typeface="Poppins"/>
                <a:ea typeface="Poppins"/>
                <a:cs typeface="Poppins"/>
                <a:sym typeface="Poppins"/>
              </a:rPr>
              <a:t>Alcances y limitaciones del proyecto</a:t>
            </a:r>
            <a:endParaRPr/>
          </a:p>
          <a:p>
            <a:pPr indent="0" lvl="0" marL="0" marR="0" rtl="0" algn="l">
              <a:lnSpc>
                <a:spcPct val="12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503" u="none" cap="none" strike="noStrike">
              <a:solidFill>
                <a:srgbClr val="00FFE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863423" y="4315678"/>
            <a:ext cx="8115300" cy="2127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47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proyecto APT busca entregar una plataforma web integral para estudiantes, combinando la administración académica</a:t>
            </a:r>
            <a:endParaRPr/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47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1478228" y="1205498"/>
            <a:ext cx="6056377" cy="1077626"/>
          </a:xfrm>
          <a:custGeom>
            <a:rect b="b" l="l" r="r" t="t"/>
            <a:pathLst>
              <a:path extrusionOk="0" h="1077626" w="6056377">
                <a:moveTo>
                  <a:pt x="0" y="0"/>
                </a:moveTo>
                <a:lnTo>
                  <a:pt x="6056377" y="0"/>
                </a:lnTo>
                <a:lnTo>
                  <a:pt x="6056377" y="1077626"/>
                </a:lnTo>
                <a:lnTo>
                  <a:pt x="0" y="1077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B28"/>
            </a:gs>
            <a:gs pos="100000">
              <a:srgbClr val="060417"/>
            </a:gs>
          </a:gsLst>
          <a:lin ang="2700000" scaled="0"/>
        </a:gra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7"/>
          <p:cNvGrpSpPr/>
          <p:nvPr/>
        </p:nvGrpSpPr>
        <p:grpSpPr>
          <a:xfrm>
            <a:off x="0" y="-144661"/>
            <a:ext cx="18288000" cy="1173361"/>
            <a:chOff x="0" y="-38100"/>
            <a:chExt cx="4816593" cy="309033"/>
          </a:xfrm>
        </p:grpSpPr>
        <p:sp>
          <p:nvSpPr>
            <p:cNvPr id="224" name="Google Shape;224;p7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225" name="Google Shape;225;p7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6" name="Google Shape;226;p7"/>
          <p:cNvGrpSpPr/>
          <p:nvPr/>
        </p:nvGrpSpPr>
        <p:grpSpPr>
          <a:xfrm>
            <a:off x="17259300" y="-144661"/>
            <a:ext cx="1028700" cy="1173361"/>
            <a:chOff x="0" y="-38100"/>
            <a:chExt cx="270933" cy="309033"/>
          </a:xfrm>
        </p:grpSpPr>
        <p:sp>
          <p:nvSpPr>
            <p:cNvPr id="227" name="Google Shape;227;p7"/>
            <p:cNvSpPr/>
            <p:nvPr/>
          </p:nvSpPr>
          <p:spPr>
            <a:xfrm>
              <a:off x="0" y="0"/>
              <a:ext cx="270933" cy="270933"/>
            </a:xfrm>
            <a:custGeom>
              <a:rect b="b" l="l" r="r" t="t"/>
              <a:pathLst>
                <a:path extrusionOk="0"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228" name="Google Shape;228;p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7"/>
          <p:cNvGrpSpPr/>
          <p:nvPr/>
        </p:nvGrpSpPr>
        <p:grpSpPr>
          <a:xfrm>
            <a:off x="17747432" y="8433795"/>
            <a:ext cx="540568" cy="824505"/>
            <a:chOff x="0" y="-38100"/>
            <a:chExt cx="72536" cy="110636"/>
          </a:xfrm>
        </p:grpSpPr>
        <p:sp>
          <p:nvSpPr>
            <p:cNvPr id="230" name="Google Shape;230;p7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231" name="Google Shape;231;p7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7"/>
          <p:cNvGrpSpPr/>
          <p:nvPr/>
        </p:nvGrpSpPr>
        <p:grpSpPr>
          <a:xfrm>
            <a:off x="17747432" y="7893227"/>
            <a:ext cx="540568" cy="824505"/>
            <a:chOff x="0" y="-38100"/>
            <a:chExt cx="72536" cy="110636"/>
          </a:xfrm>
        </p:grpSpPr>
        <p:sp>
          <p:nvSpPr>
            <p:cNvPr id="233" name="Google Shape;233;p7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234" name="Google Shape;234;p7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7"/>
          <p:cNvSpPr txBox="1"/>
          <p:nvPr/>
        </p:nvSpPr>
        <p:spPr>
          <a:xfrm>
            <a:off x="570526" y="1399388"/>
            <a:ext cx="125721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3" u="none" cap="none" strike="noStrike">
                <a:solidFill>
                  <a:srgbClr val="00FFEC"/>
                </a:solidFill>
                <a:latin typeface="Poppins"/>
                <a:ea typeface="Poppins"/>
                <a:cs typeface="Poppins"/>
                <a:sym typeface="Poppins"/>
              </a:rPr>
              <a:t>Metodología de trabajo </a:t>
            </a:r>
            <a:endParaRPr b="1" i="0" sz="5503" u="none" cap="none" strike="noStrike">
              <a:solidFill>
                <a:srgbClr val="00FFE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580150" y="2616976"/>
            <a:ext cx="17193600" cy="69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9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El desarrollo se realizó bajo la metodología en cascada, con entregas semanales cada viernes.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9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Cada etapa debía completarse antes de iniciar la siguiente, garantizando orden y control del avance.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759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Las fases incluyeron: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59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9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1-Análisis de requerimientos.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9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2-Diseño técnico (arquitectura y modelo de datos).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9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3-Programación e implementación.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9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4-Pruebas funcionales y corrección de errores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9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5-Documentación y presentación final.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59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9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Este enfoque permitió mantener un ritmo constante de trabajo y validar el progreso en cada entrega.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59" u="none" cap="none" strike="noStrike">
              <a:solidFill>
                <a:srgbClr val="00FFE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11478228" y="1205498"/>
            <a:ext cx="6056377" cy="1077626"/>
          </a:xfrm>
          <a:custGeom>
            <a:rect b="b" l="l" r="r" t="t"/>
            <a:pathLst>
              <a:path extrusionOk="0" h="1077626" w="6056377">
                <a:moveTo>
                  <a:pt x="0" y="0"/>
                </a:moveTo>
                <a:lnTo>
                  <a:pt x="6056377" y="0"/>
                </a:lnTo>
                <a:lnTo>
                  <a:pt x="6056377" y="1077626"/>
                </a:lnTo>
                <a:lnTo>
                  <a:pt x="0" y="1077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B28"/>
            </a:gs>
            <a:gs pos="100000">
              <a:srgbClr val="060417"/>
            </a:gs>
          </a:gsLst>
          <a:lin ang="2700006" scaled="0"/>
        </a:gra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g3abb02e0f4c_1_0"/>
          <p:cNvGrpSpPr/>
          <p:nvPr/>
        </p:nvGrpSpPr>
        <p:grpSpPr>
          <a:xfrm>
            <a:off x="0" y="-144662"/>
            <a:ext cx="18288118" cy="1173367"/>
            <a:chOff x="0" y="-38100"/>
            <a:chExt cx="4816592" cy="309033"/>
          </a:xfrm>
        </p:grpSpPr>
        <p:sp>
          <p:nvSpPr>
            <p:cNvPr id="243" name="Google Shape;243;g3abb02e0f4c_1_0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9"/>
              </a:srgbClr>
            </a:solidFill>
            <a:ln>
              <a:noFill/>
            </a:ln>
          </p:spPr>
        </p:sp>
        <p:sp>
          <p:nvSpPr>
            <p:cNvPr id="244" name="Google Shape;244;g3abb02e0f4c_1_0"/>
            <p:cNvSpPr txBox="1"/>
            <p:nvPr/>
          </p:nvSpPr>
          <p:spPr>
            <a:xfrm>
              <a:off x="0" y="-38100"/>
              <a:ext cx="48165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5" name="Google Shape;245;g3abb02e0f4c_1_0"/>
          <p:cNvGrpSpPr/>
          <p:nvPr/>
        </p:nvGrpSpPr>
        <p:grpSpPr>
          <a:xfrm>
            <a:off x="17259300" y="-144662"/>
            <a:ext cx="1028706" cy="1173367"/>
            <a:chOff x="0" y="-38100"/>
            <a:chExt cx="270933" cy="309033"/>
          </a:xfrm>
        </p:grpSpPr>
        <p:sp>
          <p:nvSpPr>
            <p:cNvPr id="246" name="Google Shape;246;g3abb02e0f4c_1_0"/>
            <p:cNvSpPr/>
            <p:nvPr/>
          </p:nvSpPr>
          <p:spPr>
            <a:xfrm>
              <a:off x="0" y="0"/>
              <a:ext cx="270933" cy="270933"/>
            </a:xfrm>
            <a:custGeom>
              <a:rect b="b" l="l" r="r" t="t"/>
              <a:pathLst>
                <a:path extrusionOk="0"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47" name="Google Shape;247;g3abb02e0f4c_1_0"/>
            <p:cNvSpPr txBox="1"/>
            <p:nvPr/>
          </p:nvSpPr>
          <p:spPr>
            <a:xfrm>
              <a:off x="0" y="-38100"/>
              <a:ext cx="2709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" name="Google Shape;248;g3abb02e0f4c_1_0"/>
          <p:cNvGrpSpPr/>
          <p:nvPr/>
        </p:nvGrpSpPr>
        <p:grpSpPr>
          <a:xfrm>
            <a:off x="17747432" y="8433796"/>
            <a:ext cx="541044" cy="824981"/>
            <a:chOff x="0" y="-38100"/>
            <a:chExt cx="72600" cy="110700"/>
          </a:xfrm>
        </p:grpSpPr>
        <p:sp>
          <p:nvSpPr>
            <p:cNvPr id="249" name="Google Shape;249;g3abb02e0f4c_1_0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50" name="Google Shape;250;g3abb02e0f4c_1_0"/>
            <p:cNvSpPr txBox="1"/>
            <p:nvPr/>
          </p:nvSpPr>
          <p:spPr>
            <a:xfrm>
              <a:off x="0" y="-38100"/>
              <a:ext cx="72600" cy="11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g3abb02e0f4c_1_0"/>
          <p:cNvGrpSpPr/>
          <p:nvPr/>
        </p:nvGrpSpPr>
        <p:grpSpPr>
          <a:xfrm>
            <a:off x="17747432" y="7893228"/>
            <a:ext cx="541044" cy="824981"/>
            <a:chOff x="0" y="-38100"/>
            <a:chExt cx="72600" cy="110700"/>
          </a:xfrm>
        </p:grpSpPr>
        <p:sp>
          <p:nvSpPr>
            <p:cNvPr id="252" name="Google Shape;252;g3abb02e0f4c_1_0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9"/>
              </a:srgbClr>
            </a:solidFill>
            <a:ln>
              <a:noFill/>
            </a:ln>
          </p:spPr>
        </p:sp>
        <p:sp>
          <p:nvSpPr>
            <p:cNvPr id="253" name="Google Shape;253;g3abb02e0f4c_1_0"/>
            <p:cNvSpPr txBox="1"/>
            <p:nvPr/>
          </p:nvSpPr>
          <p:spPr>
            <a:xfrm>
              <a:off x="0" y="-38100"/>
              <a:ext cx="72600" cy="11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g3abb02e0f4c_1_0"/>
          <p:cNvSpPr txBox="1"/>
          <p:nvPr/>
        </p:nvSpPr>
        <p:spPr>
          <a:xfrm>
            <a:off x="553924" y="1118775"/>
            <a:ext cx="6958200" cy="1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4" u="none" cap="none" strike="noStrike">
                <a:solidFill>
                  <a:srgbClr val="00FFEC"/>
                </a:solidFill>
                <a:latin typeface="Poppins"/>
                <a:ea typeface="Poppins"/>
                <a:cs typeface="Poppins"/>
                <a:sym typeface="Poppins"/>
              </a:rPr>
              <a:t>Carta </a:t>
            </a:r>
            <a:r>
              <a:rPr lang="en-US"/>
              <a:t> </a:t>
            </a:r>
            <a:r>
              <a:rPr b="1" i="0" lang="en-US" sz="8194" u="none" cap="none" strike="noStrike">
                <a:solidFill>
                  <a:srgbClr val="00FFEC"/>
                </a:solidFill>
                <a:latin typeface="Poppins"/>
                <a:ea typeface="Poppins"/>
                <a:cs typeface="Poppins"/>
                <a:sym typeface="Poppins"/>
              </a:rPr>
              <a:t>Gantt</a:t>
            </a:r>
            <a:endParaRPr/>
          </a:p>
        </p:txBody>
      </p:sp>
      <p:grpSp>
        <p:nvGrpSpPr>
          <p:cNvPr id="255" name="Google Shape;255;g3abb02e0f4c_1_0"/>
          <p:cNvGrpSpPr/>
          <p:nvPr/>
        </p:nvGrpSpPr>
        <p:grpSpPr>
          <a:xfrm>
            <a:off x="647025" y="2865600"/>
            <a:ext cx="5904250" cy="6172800"/>
            <a:chOff x="323513" y="1432800"/>
            <a:chExt cx="2952125" cy="3086400"/>
          </a:xfrm>
        </p:grpSpPr>
        <p:sp>
          <p:nvSpPr>
            <p:cNvPr id="256" name="Google Shape;256;g3abb02e0f4c_1_0"/>
            <p:cNvSpPr txBox="1"/>
            <p:nvPr/>
          </p:nvSpPr>
          <p:spPr>
            <a:xfrm>
              <a:off x="323513" y="1432800"/>
              <a:ext cx="2124000" cy="308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Fase 1 - Preparación (4 semanas)</a:t>
              </a:r>
              <a:endParaRPr b="1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1- Análisis y definición de requerimientos </a:t>
              </a:r>
              <a:endParaRPr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2- Construcción de arquitectura y base de datos</a:t>
              </a:r>
              <a:endParaRPr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3- Desarrollo de software</a:t>
              </a:r>
              <a:endParaRPr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57" name="Google Shape;257;g3abb02e0f4c_1_0"/>
            <p:cNvCxnSpPr/>
            <p:nvPr/>
          </p:nvCxnSpPr>
          <p:spPr>
            <a:xfrm rot="10800000">
              <a:off x="2642038" y="2647950"/>
              <a:ext cx="633600" cy="0"/>
            </a:xfrm>
            <a:prstGeom prst="straightConnector1">
              <a:avLst/>
            </a:prstGeom>
            <a:noFill/>
            <a:ln cap="flat" cmpd="sng" w="9525">
              <a:solidFill>
                <a:srgbClr val="249C91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258" name="Google Shape;258;g3abb02e0f4c_1_0"/>
          <p:cNvGrpSpPr/>
          <p:nvPr/>
        </p:nvGrpSpPr>
        <p:grpSpPr>
          <a:xfrm>
            <a:off x="10419675" y="1578500"/>
            <a:ext cx="6782425" cy="2996400"/>
            <a:chOff x="5209838" y="881463"/>
            <a:chExt cx="3391213" cy="1498200"/>
          </a:xfrm>
        </p:grpSpPr>
        <p:sp>
          <p:nvSpPr>
            <p:cNvPr id="259" name="Google Shape;259;g3abb02e0f4c_1_0"/>
            <p:cNvSpPr txBox="1"/>
            <p:nvPr/>
          </p:nvSpPr>
          <p:spPr>
            <a:xfrm>
              <a:off x="6477050" y="881463"/>
              <a:ext cx="2124000" cy="14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Fase 3 - Presentación (1 semana)</a:t>
              </a:r>
              <a:endParaRPr b="1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3200"/>
                </a:spcAft>
                <a:buNone/>
              </a:pPr>
              <a:r>
                <a:rPr lang="en-US" sz="2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1-Presentación</a:t>
              </a:r>
              <a:endParaRPr b="1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60" name="Google Shape;260;g3abb02e0f4c_1_0"/>
            <p:cNvCxnSpPr/>
            <p:nvPr/>
          </p:nvCxnSpPr>
          <p:spPr>
            <a:xfrm>
              <a:off x="5209838" y="1705200"/>
              <a:ext cx="1286700" cy="0"/>
            </a:xfrm>
            <a:prstGeom prst="straightConnector1">
              <a:avLst/>
            </a:prstGeom>
            <a:noFill/>
            <a:ln cap="flat" cmpd="sng" w="9525">
              <a:solidFill>
                <a:srgbClr val="155B55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261" name="Google Shape;261;g3abb02e0f4c_1_0"/>
          <p:cNvGrpSpPr/>
          <p:nvPr/>
        </p:nvGrpSpPr>
        <p:grpSpPr>
          <a:xfrm>
            <a:off x="10419675" y="5479925"/>
            <a:ext cx="7868325" cy="4600200"/>
            <a:chOff x="5209838" y="2739963"/>
            <a:chExt cx="3934163" cy="2300100"/>
          </a:xfrm>
        </p:grpSpPr>
        <p:sp>
          <p:nvSpPr>
            <p:cNvPr id="262" name="Google Shape;262;g3abb02e0f4c_1_0"/>
            <p:cNvSpPr txBox="1"/>
            <p:nvPr/>
          </p:nvSpPr>
          <p:spPr>
            <a:xfrm>
              <a:off x="6428400" y="2739963"/>
              <a:ext cx="2715600" cy="23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Fase 2 - Desarrollo (10 semanas)</a:t>
              </a:r>
              <a:endParaRPr b="1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1-Crear Sesiones y </a:t>
              </a:r>
              <a:r>
                <a:rPr lang="en-US" sz="2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usuarios</a:t>
              </a:r>
              <a:endParaRPr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2-Crear Papelera</a:t>
              </a:r>
              <a:endParaRPr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3-Crear Calendario</a:t>
              </a:r>
              <a:endParaRPr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4-Crear Calificaciones</a:t>
              </a:r>
              <a:endParaRPr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5-Crear Horario</a:t>
              </a:r>
              <a:endParaRPr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6-Crear Tutorial</a:t>
              </a:r>
              <a:endParaRPr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7-Crear notificaciones</a:t>
              </a:r>
              <a:endParaRPr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3200"/>
                </a:spcAft>
                <a:buNone/>
              </a:pPr>
              <a:r>
                <a:rPr lang="en-US" sz="2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8-Realizar pruebas</a:t>
              </a:r>
              <a:endParaRPr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63" name="Google Shape;263;g3abb02e0f4c_1_0"/>
            <p:cNvCxnSpPr/>
            <p:nvPr/>
          </p:nvCxnSpPr>
          <p:spPr>
            <a:xfrm>
              <a:off x="5209838" y="3648300"/>
              <a:ext cx="1286700" cy="0"/>
            </a:xfrm>
            <a:prstGeom prst="straightConnector1">
              <a:avLst/>
            </a:prstGeom>
            <a:noFill/>
            <a:ln cap="flat" cmpd="sng" w="9525">
              <a:solidFill>
                <a:srgbClr val="1D7E75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264" name="Google Shape;264;g3abb02e0f4c_1_0"/>
          <p:cNvGrpSpPr/>
          <p:nvPr/>
        </p:nvGrpSpPr>
        <p:grpSpPr>
          <a:xfrm>
            <a:off x="5324425" y="1456927"/>
            <a:ext cx="7629669" cy="7581194"/>
            <a:chOff x="2662213" y="676344"/>
            <a:chExt cx="3814835" cy="3790597"/>
          </a:xfrm>
        </p:grpSpPr>
        <p:sp>
          <p:nvSpPr>
            <p:cNvPr id="265" name="Google Shape;265;g3abb02e0f4c_1_0"/>
            <p:cNvSpPr/>
            <p:nvPr/>
          </p:nvSpPr>
          <p:spPr>
            <a:xfrm rot="3600185">
              <a:off x="3169983" y="1184511"/>
              <a:ext cx="2774659" cy="2774659"/>
            </a:xfrm>
            <a:prstGeom prst="blockArc">
              <a:avLst>
                <a:gd fmla="val 12622480" name="adj1"/>
                <a:gd fmla="val 19781569" name="adj2"/>
                <a:gd fmla="val 20773" name="adj3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g3abb02e0f4c_1_0"/>
            <p:cNvSpPr/>
            <p:nvPr/>
          </p:nvSpPr>
          <p:spPr>
            <a:xfrm rot="10800000">
              <a:off x="3183490" y="1163229"/>
              <a:ext cx="2774700" cy="2774700"/>
            </a:xfrm>
            <a:prstGeom prst="blockArc">
              <a:avLst>
                <a:gd fmla="val 12622480" name="adj1"/>
                <a:gd fmla="val 19662822" name="adj2"/>
                <a:gd fmla="val 20729" name="adj3"/>
              </a:avLst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g3abb02e0f4c_1_0"/>
            <p:cNvSpPr/>
            <p:nvPr/>
          </p:nvSpPr>
          <p:spPr>
            <a:xfrm rot="-3600185">
              <a:off x="3194618" y="1184114"/>
              <a:ext cx="2774659" cy="2774659"/>
            </a:xfrm>
            <a:prstGeom prst="blockArc">
              <a:avLst>
                <a:gd fmla="val 12622480" name="adj1"/>
                <a:gd fmla="val 19703271" name="adj2"/>
                <a:gd fmla="val 20851" name="adj3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8" name="Google Shape;268;g3abb02e0f4c_1_0"/>
            <p:cNvGrpSpPr/>
            <p:nvPr/>
          </p:nvGrpSpPr>
          <p:grpSpPr>
            <a:xfrm rot="-7200165">
              <a:off x="3337679" y="2826785"/>
              <a:ext cx="585011" cy="585536"/>
              <a:chOff x="1967628" y="812211"/>
              <a:chExt cx="588000" cy="588000"/>
            </a:xfrm>
          </p:grpSpPr>
          <p:sp>
            <p:nvSpPr>
              <p:cNvPr id="269" name="Google Shape;269;g3abb02e0f4c_1_0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249C91"/>
              </a:solidFill>
              <a:ln>
                <a:noFill/>
              </a:ln>
              <a:effectLst>
                <a:outerShdw blurRad="285750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g3abb02e0f4c_1_0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249C91"/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1" name="Google Shape;271;g3abb02e0f4c_1_0"/>
            <p:cNvGrpSpPr/>
            <p:nvPr/>
          </p:nvGrpSpPr>
          <p:grpSpPr>
            <a:xfrm>
              <a:off x="4264097" y="1180331"/>
              <a:ext cx="585001" cy="585530"/>
              <a:chOff x="1970048" y="811613"/>
              <a:chExt cx="588000" cy="588000"/>
            </a:xfrm>
          </p:grpSpPr>
          <p:sp>
            <p:nvSpPr>
              <p:cNvPr id="272" name="Google Shape;272;g3abb02e0f4c_1_0"/>
              <p:cNvSpPr/>
              <p:nvPr/>
            </p:nvSpPr>
            <p:spPr>
              <a:xfrm rot="39023">
                <a:off x="1973329" y="814894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155B55"/>
              </a:solidFill>
              <a:ln>
                <a:noFill/>
              </a:ln>
              <a:effectLst>
                <a:outerShdw blurRad="285750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g3abb02e0f4c_1_0"/>
              <p:cNvSpPr/>
              <p:nvPr/>
            </p:nvSpPr>
            <p:spPr>
              <a:xfrm rot="10800000">
                <a:off x="1973295" y="814927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155B55"/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4" name="Google Shape;274;g3abb02e0f4c_1_0"/>
            <p:cNvGrpSpPr/>
            <p:nvPr/>
          </p:nvGrpSpPr>
          <p:grpSpPr>
            <a:xfrm rot="7200165">
              <a:off x="5229930" y="2804716"/>
              <a:ext cx="585011" cy="585536"/>
              <a:chOff x="1977085" y="811649"/>
              <a:chExt cx="588000" cy="588000"/>
            </a:xfrm>
          </p:grpSpPr>
          <p:sp>
            <p:nvSpPr>
              <p:cNvPr id="275" name="Google Shape;275;g3abb02e0f4c_1_0"/>
              <p:cNvSpPr/>
              <p:nvPr/>
            </p:nvSpPr>
            <p:spPr>
              <a:xfrm rot="39023">
                <a:off x="1980366" y="814930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1D7E75"/>
              </a:solidFill>
              <a:ln>
                <a:noFill/>
              </a:ln>
              <a:effectLst>
                <a:outerShdw blurRad="285750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g3abb02e0f4c_1_0"/>
              <p:cNvSpPr/>
              <p:nvPr/>
            </p:nvSpPr>
            <p:spPr>
              <a:xfrm rot="10800000">
                <a:off x="1980332" y="814963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1D7E75"/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7" name="Google Shape;277;g3abb02e0f4c_1_0"/>
            <p:cNvSpPr txBox="1"/>
            <p:nvPr/>
          </p:nvSpPr>
          <p:spPr>
            <a:xfrm>
              <a:off x="4334550" y="1255312"/>
              <a:ext cx="5091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 </a:t>
              </a:r>
              <a:endParaRPr b="1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8" name="Google Shape;278;g3abb02e0f4c_1_0"/>
            <p:cNvSpPr txBox="1"/>
            <p:nvPr/>
          </p:nvSpPr>
          <p:spPr>
            <a:xfrm>
              <a:off x="3375648" y="2887440"/>
              <a:ext cx="5091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 </a:t>
              </a:r>
              <a:endParaRPr b="1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9" name="Google Shape;279;g3abb02e0f4c_1_0"/>
            <p:cNvSpPr txBox="1"/>
            <p:nvPr/>
          </p:nvSpPr>
          <p:spPr>
            <a:xfrm>
              <a:off x="5281877" y="2857865"/>
              <a:ext cx="5091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 </a:t>
              </a:r>
              <a:endParaRPr b="1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B28"/>
            </a:gs>
            <a:gs pos="100000">
              <a:srgbClr val="060417"/>
            </a:gs>
          </a:gsLst>
          <a:lin ang="2700000" scaled="0"/>
        </a:gra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9"/>
          <p:cNvGrpSpPr/>
          <p:nvPr/>
        </p:nvGrpSpPr>
        <p:grpSpPr>
          <a:xfrm>
            <a:off x="0" y="-144661"/>
            <a:ext cx="18288000" cy="1173361"/>
            <a:chOff x="0" y="-38100"/>
            <a:chExt cx="4816593" cy="309033"/>
          </a:xfrm>
        </p:grpSpPr>
        <p:sp>
          <p:nvSpPr>
            <p:cNvPr id="285" name="Google Shape;285;p9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286" name="Google Shape;286;p9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p9"/>
          <p:cNvGrpSpPr/>
          <p:nvPr/>
        </p:nvGrpSpPr>
        <p:grpSpPr>
          <a:xfrm>
            <a:off x="17259300" y="-144661"/>
            <a:ext cx="1028700" cy="1173361"/>
            <a:chOff x="0" y="-38100"/>
            <a:chExt cx="270933" cy="309033"/>
          </a:xfrm>
        </p:grpSpPr>
        <p:sp>
          <p:nvSpPr>
            <p:cNvPr id="288" name="Google Shape;288;p9"/>
            <p:cNvSpPr/>
            <p:nvPr/>
          </p:nvSpPr>
          <p:spPr>
            <a:xfrm>
              <a:off x="0" y="0"/>
              <a:ext cx="270933" cy="270933"/>
            </a:xfrm>
            <a:custGeom>
              <a:rect b="b" l="l" r="r" t="t"/>
              <a:pathLst>
                <a:path extrusionOk="0"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289" name="Google Shape;289;p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9"/>
          <p:cNvGrpSpPr/>
          <p:nvPr/>
        </p:nvGrpSpPr>
        <p:grpSpPr>
          <a:xfrm>
            <a:off x="17747432" y="8433795"/>
            <a:ext cx="540568" cy="824505"/>
            <a:chOff x="0" y="-38100"/>
            <a:chExt cx="72536" cy="110636"/>
          </a:xfrm>
        </p:grpSpPr>
        <p:sp>
          <p:nvSpPr>
            <p:cNvPr id="291" name="Google Shape;291;p9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292" name="Google Shape;292;p9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9"/>
          <p:cNvGrpSpPr/>
          <p:nvPr/>
        </p:nvGrpSpPr>
        <p:grpSpPr>
          <a:xfrm>
            <a:off x="17747432" y="7893227"/>
            <a:ext cx="540568" cy="824505"/>
            <a:chOff x="0" y="-38100"/>
            <a:chExt cx="72536" cy="110636"/>
          </a:xfrm>
        </p:grpSpPr>
        <p:sp>
          <p:nvSpPr>
            <p:cNvPr id="294" name="Google Shape;294;p9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295" name="Google Shape;295;p9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9"/>
          <p:cNvSpPr txBox="1"/>
          <p:nvPr/>
        </p:nvSpPr>
        <p:spPr>
          <a:xfrm>
            <a:off x="570526" y="1341876"/>
            <a:ext cx="10041515" cy="908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3" u="none" cap="none" strike="noStrike">
                <a:solidFill>
                  <a:srgbClr val="00FFEC"/>
                </a:solidFill>
                <a:latin typeface="Poppins"/>
                <a:ea typeface="Poppins"/>
                <a:cs typeface="Poppins"/>
                <a:sym typeface="Poppins"/>
              </a:rPr>
              <a:t>Arquitectura del software</a:t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11478228" y="1205498"/>
            <a:ext cx="6056377" cy="1077626"/>
          </a:xfrm>
          <a:custGeom>
            <a:rect b="b" l="l" r="r" t="t"/>
            <a:pathLst>
              <a:path extrusionOk="0" h="1077626" w="6056377">
                <a:moveTo>
                  <a:pt x="0" y="0"/>
                </a:moveTo>
                <a:lnTo>
                  <a:pt x="6056377" y="0"/>
                </a:lnTo>
                <a:lnTo>
                  <a:pt x="6056377" y="1077626"/>
                </a:lnTo>
                <a:lnTo>
                  <a:pt x="0" y="1077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98" name="Google Shape;29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425" y="2670376"/>
            <a:ext cx="16299900" cy="693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B28"/>
            </a:gs>
            <a:gs pos="100000">
              <a:srgbClr val="060417"/>
            </a:gs>
          </a:gsLst>
          <a:lin ang="2700000" scaled="0"/>
        </a:gra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10"/>
          <p:cNvGrpSpPr/>
          <p:nvPr/>
        </p:nvGrpSpPr>
        <p:grpSpPr>
          <a:xfrm>
            <a:off x="0" y="-144662"/>
            <a:ext cx="18288122" cy="1173367"/>
            <a:chOff x="0" y="-38100"/>
            <a:chExt cx="4816593" cy="309033"/>
          </a:xfrm>
        </p:grpSpPr>
        <p:sp>
          <p:nvSpPr>
            <p:cNvPr id="304" name="Google Shape;304;p10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305" name="Google Shape;305;p10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6" name="Google Shape;306;p10"/>
          <p:cNvGrpSpPr/>
          <p:nvPr/>
        </p:nvGrpSpPr>
        <p:grpSpPr>
          <a:xfrm>
            <a:off x="17259300" y="-144661"/>
            <a:ext cx="1028700" cy="1173361"/>
            <a:chOff x="0" y="-38100"/>
            <a:chExt cx="270933" cy="309033"/>
          </a:xfrm>
        </p:grpSpPr>
        <p:sp>
          <p:nvSpPr>
            <p:cNvPr id="307" name="Google Shape;307;p10"/>
            <p:cNvSpPr/>
            <p:nvPr/>
          </p:nvSpPr>
          <p:spPr>
            <a:xfrm>
              <a:off x="0" y="0"/>
              <a:ext cx="270933" cy="270933"/>
            </a:xfrm>
            <a:custGeom>
              <a:rect b="b" l="l" r="r" t="t"/>
              <a:pathLst>
                <a:path extrusionOk="0"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308" name="Google Shape;308;p10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9" name="Google Shape;309;p10"/>
          <p:cNvGrpSpPr/>
          <p:nvPr/>
        </p:nvGrpSpPr>
        <p:grpSpPr>
          <a:xfrm>
            <a:off x="17747432" y="8433795"/>
            <a:ext cx="540568" cy="824505"/>
            <a:chOff x="0" y="-38100"/>
            <a:chExt cx="72536" cy="110636"/>
          </a:xfrm>
        </p:grpSpPr>
        <p:sp>
          <p:nvSpPr>
            <p:cNvPr id="310" name="Google Shape;310;p10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311" name="Google Shape;311;p10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10"/>
          <p:cNvGrpSpPr/>
          <p:nvPr/>
        </p:nvGrpSpPr>
        <p:grpSpPr>
          <a:xfrm>
            <a:off x="17747432" y="7893227"/>
            <a:ext cx="540568" cy="824505"/>
            <a:chOff x="0" y="-38100"/>
            <a:chExt cx="72536" cy="110636"/>
          </a:xfrm>
        </p:grpSpPr>
        <p:sp>
          <p:nvSpPr>
            <p:cNvPr id="313" name="Google Shape;313;p10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314" name="Google Shape;314;p10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5" name="Google Shape;315;p10"/>
          <p:cNvSpPr txBox="1"/>
          <p:nvPr/>
        </p:nvSpPr>
        <p:spPr>
          <a:xfrm>
            <a:off x="619629" y="952500"/>
            <a:ext cx="10041600" cy="17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3" u="none" cap="none" strike="noStrike">
                <a:solidFill>
                  <a:srgbClr val="00FFEC"/>
                </a:solidFill>
                <a:latin typeface="Poppins"/>
                <a:ea typeface="Poppins"/>
                <a:cs typeface="Poppins"/>
                <a:sym typeface="Poppins"/>
              </a:rPr>
              <a:t>Modelo de datos</a:t>
            </a:r>
            <a:endParaRPr/>
          </a:p>
          <a:p>
            <a:pPr indent="0" lvl="0" marL="0" marR="0" rtl="0" algn="l">
              <a:lnSpc>
                <a:spcPct val="12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503" u="none" cap="none" strike="noStrike">
              <a:solidFill>
                <a:srgbClr val="00FFE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6" name="Google Shape;316;p10"/>
          <p:cNvSpPr txBox="1"/>
          <p:nvPr/>
        </p:nvSpPr>
        <p:spPr>
          <a:xfrm>
            <a:off x="6458918" y="4503543"/>
            <a:ext cx="2473200" cy="2322000"/>
          </a:xfrm>
          <a:prstGeom prst="rect">
            <a:avLst/>
          </a:prstGeom>
          <a:solidFill>
            <a:srgbClr val="A2C4C9"/>
          </a:solidFill>
          <a:ln cap="flat" cmpd="sng" w="18150">
            <a:solidFill>
              <a:srgbClr val="483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4300" lIns="174300" spcFirstLastPara="1" rIns="174300" wrap="square" tIns="1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87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AspNetUsers</a:t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Id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UserName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Email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87">
              <a:solidFill>
                <a:srgbClr val="4834D4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17" name="Google Shape;317;p10"/>
          <p:cNvSpPr txBox="1"/>
          <p:nvPr/>
        </p:nvSpPr>
        <p:spPr>
          <a:xfrm>
            <a:off x="9437239" y="4503472"/>
            <a:ext cx="2682600" cy="2322000"/>
          </a:xfrm>
          <a:prstGeom prst="rect">
            <a:avLst/>
          </a:prstGeom>
          <a:solidFill>
            <a:srgbClr val="D0E0E3"/>
          </a:solidFill>
          <a:ln cap="flat" cmpd="sng" w="18150">
            <a:solidFill>
              <a:srgbClr val="483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4300" lIns="174300" spcFirstLastPara="1" rIns="174300" wrap="square" tIns="1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87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Apt_Asignaturas</a:t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IdAsignatura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DESC_Nombre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DESC_Asignatura</a:t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87">
              <a:solidFill>
                <a:srgbClr val="4834D4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18" name="Google Shape;318;p10"/>
          <p:cNvSpPr txBox="1"/>
          <p:nvPr/>
        </p:nvSpPr>
        <p:spPr>
          <a:xfrm>
            <a:off x="9437251" y="7401175"/>
            <a:ext cx="2992800" cy="2002500"/>
          </a:xfrm>
          <a:prstGeom prst="rect">
            <a:avLst/>
          </a:prstGeom>
          <a:solidFill>
            <a:srgbClr val="D0E0E3"/>
          </a:solidFill>
          <a:ln cap="flat" cmpd="sng" w="18150">
            <a:solidFill>
              <a:srgbClr val="483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4300" lIns="174300" spcFirstLastPara="1" rIns="174300" wrap="square" tIns="1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87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Apt_Calificaciones</a:t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IdClasificaciones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COD_Asignatura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MNT_Porcentaje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87">
              <a:solidFill>
                <a:srgbClr val="4834D4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19" name="Google Shape;319;p10"/>
          <p:cNvSpPr/>
          <p:nvPr/>
        </p:nvSpPr>
        <p:spPr>
          <a:xfrm rot="5400000">
            <a:off x="11149932" y="6512497"/>
            <a:ext cx="1428600" cy="836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03E1D0"/>
          </a:solidFill>
          <a:ln cap="flat" cmpd="sng" w="18150">
            <a:solidFill>
              <a:srgbClr val="EA4E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4300" lIns="174300" spcFirstLastPara="1" rIns="174300" wrap="square" tIns="1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9"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20" name="Google Shape;320;p10"/>
          <p:cNvSpPr txBox="1"/>
          <p:nvPr/>
        </p:nvSpPr>
        <p:spPr>
          <a:xfrm>
            <a:off x="3370225" y="4503543"/>
            <a:ext cx="2682600" cy="2322000"/>
          </a:xfrm>
          <a:prstGeom prst="rect">
            <a:avLst/>
          </a:prstGeom>
          <a:solidFill>
            <a:srgbClr val="D0E0E3"/>
          </a:solidFill>
          <a:ln cap="flat" cmpd="sng" w="18150">
            <a:solidFill>
              <a:srgbClr val="483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4300" lIns="174300" spcFirstLastPara="1" rIns="174300" wrap="square" tIns="1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87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Apt_NetRoles</a:t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Id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Name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NormalizedName</a:t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87">
              <a:solidFill>
                <a:srgbClr val="4834D4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21" name="Google Shape;321;p10"/>
          <p:cNvSpPr txBox="1"/>
          <p:nvPr/>
        </p:nvSpPr>
        <p:spPr>
          <a:xfrm>
            <a:off x="501225" y="7457627"/>
            <a:ext cx="3356400" cy="2002500"/>
          </a:xfrm>
          <a:prstGeom prst="rect">
            <a:avLst/>
          </a:prstGeom>
          <a:solidFill>
            <a:srgbClr val="D0E0E3"/>
          </a:solidFill>
          <a:ln cap="flat" cmpd="sng" w="18150">
            <a:solidFill>
              <a:srgbClr val="483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4300" lIns="174300" spcFirstLastPara="1" rIns="174300" wrap="square" tIns="1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87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Apt_NetRolesClaims</a:t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Id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RoleId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ClaimType</a:t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87">
              <a:solidFill>
                <a:srgbClr val="4834D4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5500976" y="5554250"/>
            <a:ext cx="1500000" cy="836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03E1D0"/>
          </a:solidFill>
          <a:ln cap="flat" cmpd="sng" w="18150">
            <a:solidFill>
              <a:srgbClr val="EA4E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4300" lIns="174300" spcFirstLastPara="1" rIns="174300" wrap="square" tIns="1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9"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8667601" y="5554250"/>
            <a:ext cx="1338600" cy="836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03E1D0"/>
          </a:solidFill>
          <a:ln cap="flat" cmpd="sng" w="18150">
            <a:solidFill>
              <a:srgbClr val="EA4E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4300" lIns="174300" spcFirstLastPara="1" rIns="174300" wrap="square" tIns="1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9"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3161199" y="6634158"/>
            <a:ext cx="1671900" cy="2526000"/>
          </a:xfrm>
          <a:prstGeom prst="leftUpArrow">
            <a:avLst/>
          </a:prstGeom>
          <a:solidFill>
            <a:srgbClr val="03E1D0"/>
          </a:solidFill>
          <a:ln cap="flat" cmpd="sng" w="18150">
            <a:solidFill>
              <a:srgbClr val="EA4E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4300" lIns="174300" spcFirstLastPara="1" rIns="174300" wrap="square" tIns="1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9"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25" name="Google Shape;325;p10"/>
          <p:cNvSpPr txBox="1"/>
          <p:nvPr/>
        </p:nvSpPr>
        <p:spPr>
          <a:xfrm>
            <a:off x="8763370" y="1911794"/>
            <a:ext cx="3356400" cy="2002500"/>
          </a:xfrm>
          <a:prstGeom prst="rect">
            <a:avLst/>
          </a:prstGeom>
          <a:solidFill>
            <a:srgbClr val="D0E0E3"/>
          </a:solidFill>
          <a:ln cap="flat" cmpd="sng" w="18150">
            <a:solidFill>
              <a:srgbClr val="483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4300" lIns="174300" spcFirstLastPara="1" rIns="174300" wrap="square" tIns="1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87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Apt_TipoNotificacion</a:t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Id_TipoNotificacion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DESC_NombreNotificacion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87">
              <a:solidFill>
                <a:srgbClr val="4834D4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26" name="Google Shape;326;p10"/>
          <p:cNvSpPr txBox="1"/>
          <p:nvPr/>
        </p:nvSpPr>
        <p:spPr>
          <a:xfrm>
            <a:off x="12845621" y="1931154"/>
            <a:ext cx="3855300" cy="2002500"/>
          </a:xfrm>
          <a:prstGeom prst="rect">
            <a:avLst/>
          </a:prstGeom>
          <a:solidFill>
            <a:srgbClr val="D0E0E3"/>
          </a:solidFill>
          <a:ln cap="flat" cmpd="sng" w="18150">
            <a:solidFill>
              <a:srgbClr val="483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4300" lIns="174300" spcFirstLastPara="1" rIns="174300" wrap="square" tIns="1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87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Apt_Eventos</a:t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IdEvento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CodUsuario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DTTM_FechaEvento</a:t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87">
              <a:solidFill>
                <a:srgbClr val="4834D4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11811307" y="2401225"/>
            <a:ext cx="1875300" cy="836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03E1D0"/>
          </a:solidFill>
          <a:ln cap="flat" cmpd="sng" w="18150">
            <a:solidFill>
              <a:srgbClr val="EA4E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4300" lIns="174300" spcFirstLastPara="1" rIns="174300" wrap="square" tIns="1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9"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28" name="Google Shape;328;p10"/>
          <p:cNvSpPr/>
          <p:nvPr/>
        </p:nvSpPr>
        <p:spPr>
          <a:xfrm rot="5400000">
            <a:off x="11315305" y="3749520"/>
            <a:ext cx="1428600" cy="836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03E1D0"/>
          </a:solidFill>
          <a:ln cap="flat" cmpd="sng" w="18150">
            <a:solidFill>
              <a:srgbClr val="EA4E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4300" lIns="174300" spcFirstLastPara="1" rIns="174300" wrap="square" tIns="1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9"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29" name="Google Shape;329;p10"/>
          <p:cNvSpPr txBox="1"/>
          <p:nvPr/>
        </p:nvSpPr>
        <p:spPr>
          <a:xfrm>
            <a:off x="5269420" y="7390725"/>
            <a:ext cx="3356400" cy="2002500"/>
          </a:xfrm>
          <a:prstGeom prst="rect">
            <a:avLst/>
          </a:prstGeom>
          <a:solidFill>
            <a:srgbClr val="D0E0E3"/>
          </a:solidFill>
          <a:ln cap="flat" cmpd="sng" w="18150">
            <a:solidFill>
              <a:srgbClr val="483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4300" lIns="174300" spcFirstLastPara="1" rIns="174300" wrap="square" tIns="1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87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TrashFiles</a:t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Id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OriginalPath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TrashPath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87">
              <a:solidFill>
                <a:srgbClr val="4834D4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30" name="Google Shape;330;p10"/>
          <p:cNvSpPr txBox="1"/>
          <p:nvPr/>
        </p:nvSpPr>
        <p:spPr>
          <a:xfrm>
            <a:off x="3509225" y="1935875"/>
            <a:ext cx="3855300" cy="2002500"/>
          </a:xfrm>
          <a:prstGeom prst="rect">
            <a:avLst/>
          </a:prstGeom>
          <a:solidFill>
            <a:srgbClr val="D0E0E3"/>
          </a:solidFill>
          <a:ln cap="flat" cmpd="sng" w="18150">
            <a:solidFill>
              <a:srgbClr val="483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4300" lIns="174300" spcFirstLastPara="1" rIns="174300" wrap="square" tIns="1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87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WorkItemReminders</a:t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Id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WorkItemId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MinutesBefore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87">
              <a:solidFill>
                <a:srgbClr val="4834D4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31" name="Google Shape;331;p10"/>
          <p:cNvSpPr txBox="1"/>
          <p:nvPr/>
        </p:nvSpPr>
        <p:spPr>
          <a:xfrm>
            <a:off x="12845621" y="4971050"/>
            <a:ext cx="3855300" cy="2002500"/>
          </a:xfrm>
          <a:prstGeom prst="rect">
            <a:avLst/>
          </a:prstGeom>
          <a:solidFill>
            <a:srgbClr val="D0E0E3"/>
          </a:solidFill>
          <a:ln cap="flat" cmpd="sng" w="18150">
            <a:solidFill>
              <a:srgbClr val="483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4300" lIns="174300" spcFirstLastPara="1" rIns="174300" wrap="square" tIns="1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87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Apt_Horario</a:t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IdHorario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CodAsignatura</a:t>
            </a:r>
            <a:endParaRPr sz="1906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6">
                <a:solidFill>
                  <a:srgbClr val="4834D4"/>
                </a:solidFill>
                <a:latin typeface="Barlow"/>
                <a:ea typeface="Barlow"/>
                <a:cs typeface="Barlow"/>
                <a:sym typeface="Barlow"/>
              </a:rPr>
              <a:t>DiaSemana</a:t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87">
              <a:solidFill>
                <a:srgbClr val="4834D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87">
              <a:solidFill>
                <a:srgbClr val="4834D4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11708425" y="5211875"/>
            <a:ext cx="1671900" cy="836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03E1D0"/>
          </a:solidFill>
          <a:ln cap="flat" cmpd="sng" w="18150">
            <a:solidFill>
              <a:srgbClr val="EA4E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4300" lIns="174300" spcFirstLastPara="1" rIns="174300" wrap="square" tIns="1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9"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33" name="Google Shape;333;p10"/>
          <p:cNvSpPr/>
          <p:nvPr/>
        </p:nvSpPr>
        <p:spPr>
          <a:xfrm rot="5400000">
            <a:off x="6598525" y="3529774"/>
            <a:ext cx="1428600" cy="836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03E1D0"/>
          </a:solidFill>
          <a:ln cap="flat" cmpd="sng" w="18150">
            <a:solidFill>
              <a:srgbClr val="EA4E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4300" lIns="174300" spcFirstLastPara="1" rIns="174300" wrap="square" tIns="1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9"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34" name="Google Shape;334;p10"/>
          <p:cNvSpPr/>
          <p:nvPr/>
        </p:nvSpPr>
        <p:spPr>
          <a:xfrm rot="5400000">
            <a:off x="7535241" y="6833137"/>
            <a:ext cx="1428600" cy="836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03E1D0"/>
          </a:solidFill>
          <a:ln cap="flat" cmpd="sng" w="18150">
            <a:solidFill>
              <a:srgbClr val="EA4E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4300" lIns="174300" spcFirstLastPara="1" rIns="174300" wrap="square" tIns="1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9">
              <a:latin typeface="Barlow Medium"/>
              <a:ea typeface="Barlow Medium"/>
              <a:cs typeface="Barlow Medium"/>
              <a:sym typeface="Barlow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B28"/>
            </a:gs>
            <a:gs pos="100000">
              <a:srgbClr val="060417"/>
            </a:gs>
          </a:gsLst>
          <a:lin ang="2700000" scaled="0"/>
        </a:gra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11"/>
          <p:cNvGrpSpPr/>
          <p:nvPr/>
        </p:nvGrpSpPr>
        <p:grpSpPr>
          <a:xfrm>
            <a:off x="0" y="-144661"/>
            <a:ext cx="18288000" cy="1173361"/>
            <a:chOff x="0" y="-38100"/>
            <a:chExt cx="4816593" cy="309033"/>
          </a:xfrm>
        </p:grpSpPr>
        <p:sp>
          <p:nvSpPr>
            <p:cNvPr id="340" name="Google Shape;340;p11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341" name="Google Shape;341;p11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2" name="Google Shape;342;p11"/>
          <p:cNvGrpSpPr/>
          <p:nvPr/>
        </p:nvGrpSpPr>
        <p:grpSpPr>
          <a:xfrm>
            <a:off x="17259300" y="-144661"/>
            <a:ext cx="1028700" cy="1173361"/>
            <a:chOff x="0" y="-38100"/>
            <a:chExt cx="270933" cy="309033"/>
          </a:xfrm>
        </p:grpSpPr>
        <p:sp>
          <p:nvSpPr>
            <p:cNvPr id="343" name="Google Shape;343;p11"/>
            <p:cNvSpPr/>
            <p:nvPr/>
          </p:nvSpPr>
          <p:spPr>
            <a:xfrm>
              <a:off x="0" y="0"/>
              <a:ext cx="270933" cy="270933"/>
            </a:xfrm>
            <a:custGeom>
              <a:rect b="b" l="l" r="r" t="t"/>
              <a:pathLst>
                <a:path extrusionOk="0"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344" name="Google Shape;344;p11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5" name="Google Shape;345;p11"/>
          <p:cNvGrpSpPr/>
          <p:nvPr/>
        </p:nvGrpSpPr>
        <p:grpSpPr>
          <a:xfrm>
            <a:off x="17747432" y="8433795"/>
            <a:ext cx="540568" cy="824505"/>
            <a:chOff x="0" y="-38100"/>
            <a:chExt cx="72536" cy="110636"/>
          </a:xfrm>
        </p:grpSpPr>
        <p:sp>
          <p:nvSpPr>
            <p:cNvPr id="346" name="Google Shape;346;p11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347" name="Google Shape;347;p11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" name="Google Shape;348;p11"/>
          <p:cNvGrpSpPr/>
          <p:nvPr/>
        </p:nvGrpSpPr>
        <p:grpSpPr>
          <a:xfrm>
            <a:off x="17747432" y="7893227"/>
            <a:ext cx="540568" cy="824505"/>
            <a:chOff x="0" y="-38100"/>
            <a:chExt cx="72536" cy="110636"/>
          </a:xfrm>
        </p:grpSpPr>
        <p:sp>
          <p:nvSpPr>
            <p:cNvPr id="349" name="Google Shape;349;p11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350" name="Google Shape;350;p11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1" name="Google Shape;351;p11"/>
          <p:cNvSpPr txBox="1"/>
          <p:nvPr/>
        </p:nvSpPr>
        <p:spPr>
          <a:xfrm>
            <a:off x="570526" y="1341876"/>
            <a:ext cx="10041515" cy="908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3" u="none" cap="none" strike="noStrike">
                <a:solidFill>
                  <a:srgbClr val="00FFEC"/>
                </a:solidFill>
                <a:latin typeface="Poppins"/>
                <a:ea typeface="Poppins"/>
                <a:cs typeface="Poppins"/>
                <a:sym typeface="Poppins"/>
              </a:rPr>
              <a:t>Tecnologías utilizadas</a:t>
            </a:r>
            <a:endParaRPr/>
          </a:p>
        </p:txBody>
      </p:sp>
      <p:sp>
        <p:nvSpPr>
          <p:cNvPr id="352" name="Google Shape;352;p11"/>
          <p:cNvSpPr txBox="1"/>
          <p:nvPr/>
        </p:nvSpPr>
        <p:spPr>
          <a:xfrm>
            <a:off x="912525" y="2793202"/>
            <a:ext cx="10027800" cy="62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32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Lenguaje y framework: </a:t>
            </a:r>
            <a:endParaRPr sz="2200"/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732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32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Base de datos: </a:t>
            </a:r>
            <a:endParaRPr sz="2200"/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732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32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Entorno de desarrollo: </a:t>
            </a:r>
            <a:endParaRPr sz="2200"/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732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32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Control de versiones: </a:t>
            </a:r>
            <a:endParaRPr sz="2200"/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732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11478228" y="1205498"/>
            <a:ext cx="6056377" cy="1077626"/>
          </a:xfrm>
          <a:custGeom>
            <a:rect b="b" l="l" r="r" t="t"/>
            <a:pathLst>
              <a:path extrusionOk="0" h="1077626" w="6056377">
                <a:moveTo>
                  <a:pt x="0" y="0"/>
                </a:moveTo>
                <a:lnTo>
                  <a:pt x="6056377" y="0"/>
                </a:lnTo>
                <a:lnTo>
                  <a:pt x="6056377" y="1077626"/>
                </a:lnTo>
                <a:lnTo>
                  <a:pt x="0" y="1077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54" name="Google Shape;35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8550" y="2283125"/>
            <a:ext cx="1776349" cy="177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46900" y="4059475"/>
            <a:ext cx="1776350" cy="143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46900" y="5843125"/>
            <a:ext cx="1159524" cy="1159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46900" y="7604212"/>
            <a:ext cx="1402527" cy="140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923250" y="2591526"/>
            <a:ext cx="1028700" cy="1028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B28"/>
            </a:gs>
            <a:gs pos="100000">
              <a:srgbClr val="060417"/>
            </a:gs>
          </a:gsLst>
          <a:lin ang="2700000" scaled="0"/>
        </a:gra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363;p12"/>
          <p:cNvGrpSpPr/>
          <p:nvPr/>
        </p:nvGrpSpPr>
        <p:grpSpPr>
          <a:xfrm>
            <a:off x="0" y="-144661"/>
            <a:ext cx="18288000" cy="1173361"/>
            <a:chOff x="0" y="-38100"/>
            <a:chExt cx="4816593" cy="309033"/>
          </a:xfrm>
        </p:grpSpPr>
        <p:sp>
          <p:nvSpPr>
            <p:cNvPr id="364" name="Google Shape;364;p12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365" name="Google Shape;365;p12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366;p12"/>
          <p:cNvGrpSpPr/>
          <p:nvPr/>
        </p:nvGrpSpPr>
        <p:grpSpPr>
          <a:xfrm>
            <a:off x="17259300" y="-144661"/>
            <a:ext cx="1028700" cy="1173361"/>
            <a:chOff x="0" y="-38100"/>
            <a:chExt cx="270933" cy="309033"/>
          </a:xfrm>
        </p:grpSpPr>
        <p:sp>
          <p:nvSpPr>
            <p:cNvPr id="367" name="Google Shape;367;p12"/>
            <p:cNvSpPr/>
            <p:nvPr/>
          </p:nvSpPr>
          <p:spPr>
            <a:xfrm>
              <a:off x="0" y="0"/>
              <a:ext cx="270933" cy="270933"/>
            </a:xfrm>
            <a:custGeom>
              <a:rect b="b" l="l" r="r" t="t"/>
              <a:pathLst>
                <a:path extrusionOk="0"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368" name="Google Shape;368;p12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12"/>
          <p:cNvGrpSpPr/>
          <p:nvPr/>
        </p:nvGrpSpPr>
        <p:grpSpPr>
          <a:xfrm>
            <a:off x="17747432" y="8433795"/>
            <a:ext cx="540568" cy="824505"/>
            <a:chOff x="0" y="-38100"/>
            <a:chExt cx="72536" cy="110636"/>
          </a:xfrm>
        </p:grpSpPr>
        <p:sp>
          <p:nvSpPr>
            <p:cNvPr id="370" name="Google Shape;370;p12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371" name="Google Shape;371;p12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12"/>
          <p:cNvGrpSpPr/>
          <p:nvPr/>
        </p:nvGrpSpPr>
        <p:grpSpPr>
          <a:xfrm>
            <a:off x="17747432" y="7893227"/>
            <a:ext cx="540568" cy="824505"/>
            <a:chOff x="0" y="-38100"/>
            <a:chExt cx="72536" cy="110636"/>
          </a:xfrm>
        </p:grpSpPr>
        <p:sp>
          <p:nvSpPr>
            <p:cNvPr id="373" name="Google Shape;373;p12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374" name="Google Shape;374;p12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12"/>
          <p:cNvSpPr txBox="1"/>
          <p:nvPr/>
        </p:nvSpPr>
        <p:spPr>
          <a:xfrm>
            <a:off x="570526" y="1341876"/>
            <a:ext cx="10041515" cy="264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3" u="none" cap="none" strike="noStrike">
                <a:solidFill>
                  <a:srgbClr val="00FFEC"/>
                </a:solidFill>
                <a:latin typeface="Poppins"/>
                <a:ea typeface="Poppins"/>
                <a:cs typeface="Poppins"/>
                <a:sym typeface="Poppins"/>
              </a:rPr>
              <a:t>DEMOSTRACIÓN DEL RESULTADO DEL PROYECTO</a:t>
            </a:r>
            <a:endParaRPr/>
          </a:p>
          <a:p>
            <a:pPr indent="0" lvl="0" marL="0" marR="0" rtl="0" algn="l">
              <a:lnSpc>
                <a:spcPct val="12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503" u="none" cap="none" strike="noStrike">
              <a:solidFill>
                <a:srgbClr val="00FFE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11478228" y="1205498"/>
            <a:ext cx="6056377" cy="1077626"/>
          </a:xfrm>
          <a:custGeom>
            <a:rect b="b" l="l" r="r" t="t"/>
            <a:pathLst>
              <a:path extrusionOk="0" h="1077626" w="6056377">
                <a:moveTo>
                  <a:pt x="0" y="0"/>
                </a:moveTo>
                <a:lnTo>
                  <a:pt x="6056377" y="0"/>
                </a:lnTo>
                <a:lnTo>
                  <a:pt x="6056377" y="1077626"/>
                </a:lnTo>
                <a:lnTo>
                  <a:pt x="0" y="1077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77" name="Google Shape;377;p12" title="capstone clawboard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4175" y="3619139"/>
            <a:ext cx="10664438" cy="5998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B28"/>
            </a:gs>
            <a:gs pos="100000">
              <a:srgbClr val="060417"/>
            </a:gs>
          </a:gsLst>
          <a:lin ang="2700000" scaled="0"/>
        </a:gra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Google Shape;382;p13"/>
          <p:cNvGrpSpPr/>
          <p:nvPr/>
        </p:nvGrpSpPr>
        <p:grpSpPr>
          <a:xfrm>
            <a:off x="0" y="-144661"/>
            <a:ext cx="18288000" cy="1173361"/>
            <a:chOff x="0" y="-38100"/>
            <a:chExt cx="4816593" cy="309033"/>
          </a:xfrm>
        </p:grpSpPr>
        <p:sp>
          <p:nvSpPr>
            <p:cNvPr id="383" name="Google Shape;383;p13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384" name="Google Shape;384;p13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" name="Google Shape;385;p13"/>
          <p:cNvGrpSpPr/>
          <p:nvPr/>
        </p:nvGrpSpPr>
        <p:grpSpPr>
          <a:xfrm>
            <a:off x="17259300" y="-144661"/>
            <a:ext cx="1028700" cy="1173361"/>
            <a:chOff x="0" y="-38100"/>
            <a:chExt cx="270933" cy="309033"/>
          </a:xfrm>
        </p:grpSpPr>
        <p:sp>
          <p:nvSpPr>
            <p:cNvPr id="386" name="Google Shape;386;p13"/>
            <p:cNvSpPr/>
            <p:nvPr/>
          </p:nvSpPr>
          <p:spPr>
            <a:xfrm>
              <a:off x="0" y="0"/>
              <a:ext cx="270933" cy="270933"/>
            </a:xfrm>
            <a:custGeom>
              <a:rect b="b" l="l" r="r" t="t"/>
              <a:pathLst>
                <a:path extrusionOk="0"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387" name="Google Shape;387;p13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8" name="Google Shape;388;p13"/>
          <p:cNvGrpSpPr/>
          <p:nvPr/>
        </p:nvGrpSpPr>
        <p:grpSpPr>
          <a:xfrm>
            <a:off x="17747432" y="8433795"/>
            <a:ext cx="540568" cy="824505"/>
            <a:chOff x="0" y="-38100"/>
            <a:chExt cx="72536" cy="110636"/>
          </a:xfrm>
        </p:grpSpPr>
        <p:sp>
          <p:nvSpPr>
            <p:cNvPr id="389" name="Google Shape;389;p13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390" name="Google Shape;390;p13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1" name="Google Shape;391;p13"/>
          <p:cNvGrpSpPr/>
          <p:nvPr/>
        </p:nvGrpSpPr>
        <p:grpSpPr>
          <a:xfrm>
            <a:off x="17747432" y="7893227"/>
            <a:ext cx="540568" cy="824505"/>
            <a:chOff x="0" y="-38100"/>
            <a:chExt cx="72536" cy="110636"/>
          </a:xfrm>
        </p:grpSpPr>
        <p:sp>
          <p:nvSpPr>
            <p:cNvPr id="392" name="Google Shape;392;p13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393" name="Google Shape;393;p13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4" name="Google Shape;394;p13"/>
          <p:cNvSpPr txBox="1"/>
          <p:nvPr/>
        </p:nvSpPr>
        <p:spPr>
          <a:xfrm>
            <a:off x="570526" y="1976498"/>
            <a:ext cx="10041515" cy="963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3" u="none" cap="none" strike="noStrike">
                <a:solidFill>
                  <a:srgbClr val="00FFEC"/>
                </a:solidFill>
                <a:latin typeface="Poppins"/>
                <a:ea typeface="Poppins"/>
                <a:cs typeface="Poppins"/>
                <a:sym typeface="Poppins"/>
              </a:rPr>
              <a:t>Resultados obtenidos</a:t>
            </a: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11478228" y="1205498"/>
            <a:ext cx="6056377" cy="1077626"/>
          </a:xfrm>
          <a:custGeom>
            <a:rect b="b" l="l" r="r" t="t"/>
            <a:pathLst>
              <a:path extrusionOk="0" h="1077626" w="6056377">
                <a:moveTo>
                  <a:pt x="0" y="0"/>
                </a:moveTo>
                <a:lnTo>
                  <a:pt x="6056377" y="0"/>
                </a:lnTo>
                <a:lnTo>
                  <a:pt x="6056377" y="1077626"/>
                </a:lnTo>
                <a:lnTo>
                  <a:pt x="0" y="1077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6" name="Google Shape;396;p13"/>
          <p:cNvSpPr txBox="1"/>
          <p:nvPr/>
        </p:nvSpPr>
        <p:spPr>
          <a:xfrm>
            <a:off x="944150" y="3706150"/>
            <a:ext cx="15994200" cy="54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9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Los resultados obtenidos con el desarrollo de este proyecto fueron:</a:t>
            </a:r>
            <a:br>
              <a:rPr b="1" lang="en-US" sz="29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b="1" sz="2932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14782" lvl="0" marL="45720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32"/>
              <a:buFont typeface="Open Sans"/>
              <a:buChar char="●"/>
            </a:pPr>
            <a:r>
              <a:rPr b="1" lang="en-US" sz="29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Plataforma funcional: </a:t>
            </a:r>
            <a:r>
              <a:rPr lang="en-US" sz="29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inicio sesión, </a:t>
            </a:r>
            <a:r>
              <a:rPr lang="en-US" sz="29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calificaciones</a:t>
            </a:r>
            <a:r>
              <a:rPr lang="en-US" sz="29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calendario, horario, papelera, tutorial.</a:t>
            </a:r>
            <a:endParaRPr sz="2932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14782" lvl="0" marL="45720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32"/>
              <a:buFont typeface="Open Sans"/>
              <a:buChar char="●"/>
            </a:pPr>
            <a:r>
              <a:rPr b="1" lang="en-US" sz="29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Autenticación: </a:t>
            </a:r>
            <a:r>
              <a:rPr lang="en-US" sz="29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usuario y contraseña.</a:t>
            </a:r>
            <a:endParaRPr sz="2932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14782" lvl="0" marL="45720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32"/>
              <a:buFont typeface="Open Sans"/>
              <a:buChar char="●"/>
            </a:pPr>
            <a:r>
              <a:rPr b="1" lang="en-US" sz="29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Integración: </a:t>
            </a:r>
            <a:r>
              <a:rPr lang="en-US" sz="29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entre módulos dependientes.</a:t>
            </a:r>
            <a:endParaRPr sz="2932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14782" lvl="0" marL="45720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32"/>
              <a:buFont typeface="Open Sans"/>
              <a:buChar char="●"/>
            </a:pPr>
            <a:r>
              <a:rPr b="1" lang="en-US" sz="29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Base de datos</a:t>
            </a:r>
            <a:r>
              <a:rPr lang="en-US" sz="29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para guardar información valiosa.</a:t>
            </a:r>
            <a:endParaRPr sz="2932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14782" lvl="0" marL="45720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32"/>
              <a:buFont typeface="Open Sans"/>
              <a:buChar char="●"/>
            </a:pPr>
            <a:r>
              <a:rPr b="1" lang="en-US" sz="29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Aprendizaje reforzado: </a:t>
            </a:r>
            <a:r>
              <a:rPr lang="en-US" sz="29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prácticas personales.</a:t>
            </a:r>
            <a:endParaRPr sz="2932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2932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B28"/>
            </a:gs>
            <a:gs pos="100000">
              <a:srgbClr val="060417"/>
            </a:gs>
          </a:gsLst>
          <a:lin ang="2700000" scaled="0"/>
        </a:gra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Google Shape;401;p14"/>
          <p:cNvGrpSpPr/>
          <p:nvPr/>
        </p:nvGrpSpPr>
        <p:grpSpPr>
          <a:xfrm>
            <a:off x="0" y="-144661"/>
            <a:ext cx="18288000" cy="1173361"/>
            <a:chOff x="0" y="-38100"/>
            <a:chExt cx="4816593" cy="309033"/>
          </a:xfrm>
        </p:grpSpPr>
        <p:sp>
          <p:nvSpPr>
            <p:cNvPr id="402" name="Google Shape;402;p14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403" name="Google Shape;403;p14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4" name="Google Shape;404;p14"/>
          <p:cNvGrpSpPr/>
          <p:nvPr/>
        </p:nvGrpSpPr>
        <p:grpSpPr>
          <a:xfrm>
            <a:off x="17259300" y="-144661"/>
            <a:ext cx="1028700" cy="1173361"/>
            <a:chOff x="0" y="-38100"/>
            <a:chExt cx="270933" cy="309033"/>
          </a:xfrm>
        </p:grpSpPr>
        <p:sp>
          <p:nvSpPr>
            <p:cNvPr id="405" name="Google Shape;405;p14"/>
            <p:cNvSpPr/>
            <p:nvPr/>
          </p:nvSpPr>
          <p:spPr>
            <a:xfrm>
              <a:off x="0" y="0"/>
              <a:ext cx="270933" cy="270933"/>
            </a:xfrm>
            <a:custGeom>
              <a:rect b="b" l="l" r="r" t="t"/>
              <a:pathLst>
                <a:path extrusionOk="0"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406" name="Google Shape;406;p14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7" name="Google Shape;407;p14"/>
          <p:cNvGrpSpPr/>
          <p:nvPr/>
        </p:nvGrpSpPr>
        <p:grpSpPr>
          <a:xfrm>
            <a:off x="17747432" y="8433795"/>
            <a:ext cx="540568" cy="824505"/>
            <a:chOff x="0" y="-38100"/>
            <a:chExt cx="72536" cy="110636"/>
          </a:xfrm>
        </p:grpSpPr>
        <p:sp>
          <p:nvSpPr>
            <p:cNvPr id="408" name="Google Shape;408;p14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409" name="Google Shape;409;p14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0" name="Google Shape;410;p14"/>
          <p:cNvGrpSpPr/>
          <p:nvPr/>
        </p:nvGrpSpPr>
        <p:grpSpPr>
          <a:xfrm>
            <a:off x="17747432" y="7893227"/>
            <a:ext cx="540568" cy="824505"/>
            <a:chOff x="0" y="-38100"/>
            <a:chExt cx="72536" cy="110636"/>
          </a:xfrm>
        </p:grpSpPr>
        <p:sp>
          <p:nvSpPr>
            <p:cNvPr id="411" name="Google Shape;411;p14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412" name="Google Shape;412;p14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3" name="Google Shape;413;p14"/>
          <p:cNvSpPr txBox="1"/>
          <p:nvPr/>
        </p:nvSpPr>
        <p:spPr>
          <a:xfrm>
            <a:off x="553922" y="1565018"/>
            <a:ext cx="10041515" cy="2773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3" u="none" cap="none" strike="noStrike">
                <a:solidFill>
                  <a:srgbClr val="00FFEC"/>
                </a:solidFill>
                <a:latin typeface="Poppins"/>
                <a:ea typeface="Poppins"/>
                <a:cs typeface="Poppins"/>
                <a:sym typeface="Poppins"/>
              </a:rPr>
              <a:t>Obstáculos presentados durante el desarrollo</a:t>
            </a:r>
            <a:endParaRPr/>
          </a:p>
          <a:p>
            <a:pPr indent="0" lvl="0" marL="0" marR="0" rtl="0" algn="l">
              <a:lnSpc>
                <a:spcPct val="12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703" u="none" cap="none" strike="noStrike">
              <a:solidFill>
                <a:srgbClr val="00FFE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11478228" y="1205498"/>
            <a:ext cx="6056377" cy="1077626"/>
          </a:xfrm>
          <a:custGeom>
            <a:rect b="b" l="l" r="r" t="t"/>
            <a:pathLst>
              <a:path extrusionOk="0" h="1077626" w="6056377">
                <a:moveTo>
                  <a:pt x="0" y="0"/>
                </a:moveTo>
                <a:lnTo>
                  <a:pt x="6056377" y="0"/>
                </a:lnTo>
                <a:lnTo>
                  <a:pt x="6056377" y="1077626"/>
                </a:lnTo>
                <a:lnTo>
                  <a:pt x="0" y="1077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5" name="Google Shape;415;p14"/>
          <p:cNvSpPr txBox="1"/>
          <p:nvPr/>
        </p:nvSpPr>
        <p:spPr>
          <a:xfrm>
            <a:off x="1061575" y="4011450"/>
            <a:ext cx="11813700" cy="4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obstáculos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presentados fueron solucionados con tiempo, sin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embargo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estos son algunos de los que se dieron en el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momento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Conexión con la base de datos modificada.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Integración entre módulos dependientes.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Sincronización de datos.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Reajuste de carta gantt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B28"/>
            </a:gs>
            <a:gs pos="100000">
              <a:srgbClr val="060417"/>
            </a:gs>
          </a:gsLst>
          <a:lin ang="2700000" scaled="0"/>
        </a:gra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" name="Google Shape;420;p15"/>
          <p:cNvGrpSpPr/>
          <p:nvPr/>
        </p:nvGrpSpPr>
        <p:grpSpPr>
          <a:xfrm>
            <a:off x="0" y="-144661"/>
            <a:ext cx="18288000" cy="1173361"/>
            <a:chOff x="0" y="-38100"/>
            <a:chExt cx="4816593" cy="309033"/>
          </a:xfrm>
        </p:grpSpPr>
        <p:sp>
          <p:nvSpPr>
            <p:cNvPr id="421" name="Google Shape;421;p15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422" name="Google Shape;422;p15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3" name="Google Shape;423;p15"/>
          <p:cNvGrpSpPr/>
          <p:nvPr/>
        </p:nvGrpSpPr>
        <p:grpSpPr>
          <a:xfrm>
            <a:off x="17259300" y="-144661"/>
            <a:ext cx="1028700" cy="1173361"/>
            <a:chOff x="0" y="-38100"/>
            <a:chExt cx="270933" cy="309033"/>
          </a:xfrm>
        </p:grpSpPr>
        <p:sp>
          <p:nvSpPr>
            <p:cNvPr id="424" name="Google Shape;424;p15"/>
            <p:cNvSpPr/>
            <p:nvPr/>
          </p:nvSpPr>
          <p:spPr>
            <a:xfrm>
              <a:off x="0" y="0"/>
              <a:ext cx="270933" cy="270933"/>
            </a:xfrm>
            <a:custGeom>
              <a:rect b="b" l="l" r="r" t="t"/>
              <a:pathLst>
                <a:path extrusionOk="0"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425" name="Google Shape;425;p15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6" name="Google Shape;426;p15"/>
          <p:cNvGrpSpPr/>
          <p:nvPr/>
        </p:nvGrpSpPr>
        <p:grpSpPr>
          <a:xfrm>
            <a:off x="17747432" y="8433795"/>
            <a:ext cx="540568" cy="824505"/>
            <a:chOff x="0" y="-38100"/>
            <a:chExt cx="72536" cy="110636"/>
          </a:xfrm>
        </p:grpSpPr>
        <p:sp>
          <p:nvSpPr>
            <p:cNvPr id="427" name="Google Shape;427;p15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428" name="Google Shape;428;p15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9" name="Google Shape;429;p15"/>
          <p:cNvGrpSpPr/>
          <p:nvPr/>
        </p:nvGrpSpPr>
        <p:grpSpPr>
          <a:xfrm>
            <a:off x="17747432" y="7893227"/>
            <a:ext cx="540568" cy="824505"/>
            <a:chOff x="0" y="-38100"/>
            <a:chExt cx="72536" cy="110636"/>
          </a:xfrm>
        </p:grpSpPr>
        <p:sp>
          <p:nvSpPr>
            <p:cNvPr id="430" name="Google Shape;430;p15"/>
            <p:cNvSpPr/>
            <p:nvPr/>
          </p:nvSpPr>
          <p:spPr>
            <a:xfrm>
              <a:off x="0" y="0"/>
              <a:ext cx="72536" cy="72536"/>
            </a:xfrm>
            <a:custGeom>
              <a:rect b="b" l="l" r="r" t="t"/>
              <a:pathLst>
                <a:path extrusionOk="0" h="72536" w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431" name="Google Shape;431;p15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" name="Google Shape;432;p15"/>
          <p:cNvGrpSpPr/>
          <p:nvPr/>
        </p:nvGrpSpPr>
        <p:grpSpPr>
          <a:xfrm>
            <a:off x="0" y="2857245"/>
            <a:ext cx="17259300" cy="3740931"/>
            <a:chOff x="0" y="-38100"/>
            <a:chExt cx="4545659" cy="985266"/>
          </a:xfrm>
        </p:grpSpPr>
        <p:sp>
          <p:nvSpPr>
            <p:cNvPr id="433" name="Google Shape;433;p15"/>
            <p:cNvSpPr/>
            <p:nvPr/>
          </p:nvSpPr>
          <p:spPr>
            <a:xfrm>
              <a:off x="0" y="0"/>
              <a:ext cx="4545659" cy="947166"/>
            </a:xfrm>
            <a:custGeom>
              <a:rect b="b" l="l" r="r" t="t"/>
              <a:pathLst>
                <a:path extrusionOk="0" h="947166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947166"/>
                  </a:lnTo>
                  <a:lnTo>
                    <a:pt x="0" y="947166"/>
                  </a:ln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</p:sp>
        <p:sp>
          <p:nvSpPr>
            <p:cNvPr id="434" name="Google Shape;434;p15"/>
            <p:cNvSpPr txBox="1"/>
            <p:nvPr/>
          </p:nvSpPr>
          <p:spPr>
            <a:xfrm>
              <a:off x="0" y="-38100"/>
              <a:ext cx="4545659" cy="9852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5" name="Google Shape;435;p15"/>
          <p:cNvGrpSpPr/>
          <p:nvPr/>
        </p:nvGrpSpPr>
        <p:grpSpPr>
          <a:xfrm>
            <a:off x="0" y="2857245"/>
            <a:ext cx="3596270" cy="3740931"/>
            <a:chOff x="0" y="-38100"/>
            <a:chExt cx="947166" cy="985266"/>
          </a:xfrm>
        </p:grpSpPr>
        <p:sp>
          <p:nvSpPr>
            <p:cNvPr id="436" name="Google Shape;436;p15"/>
            <p:cNvSpPr/>
            <p:nvPr/>
          </p:nvSpPr>
          <p:spPr>
            <a:xfrm>
              <a:off x="0" y="0"/>
              <a:ext cx="947166" cy="947166"/>
            </a:xfrm>
            <a:custGeom>
              <a:rect b="b" l="l" r="r" t="t"/>
              <a:pathLst>
                <a:path extrusionOk="0" h="947166" w="947166">
                  <a:moveTo>
                    <a:pt x="0" y="0"/>
                  </a:moveTo>
                  <a:lnTo>
                    <a:pt x="947166" y="0"/>
                  </a:lnTo>
                  <a:lnTo>
                    <a:pt x="947166" y="947166"/>
                  </a:lnTo>
                  <a:lnTo>
                    <a:pt x="0" y="947166"/>
                  </a:lnTo>
                  <a:close/>
                </a:path>
              </a:pathLst>
            </a:custGeom>
            <a:gradFill>
              <a:gsLst>
                <a:gs pos="0">
                  <a:srgbClr val="00FFEC"/>
                </a:gs>
                <a:gs pos="100000">
                  <a:srgbClr val="099187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437" name="Google Shape;437;p15"/>
            <p:cNvSpPr txBox="1"/>
            <p:nvPr/>
          </p:nvSpPr>
          <p:spPr>
            <a:xfrm>
              <a:off x="0" y="-38100"/>
              <a:ext cx="947166" cy="9852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8" name="Google Shape;438;p15"/>
          <p:cNvSpPr txBox="1"/>
          <p:nvPr/>
        </p:nvSpPr>
        <p:spPr>
          <a:xfrm>
            <a:off x="5911150" y="2886941"/>
            <a:ext cx="8473896" cy="3540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62" u="none" cap="none" strike="noStrike">
                <a:solidFill>
                  <a:srgbClr val="00FFEC"/>
                </a:solidFill>
                <a:latin typeface="Poppins"/>
                <a:ea typeface="Poppins"/>
                <a:cs typeface="Poppins"/>
                <a:sym typeface="Poppins"/>
              </a:rPr>
              <a:t>MUCHAS GRACIAS</a:t>
            </a:r>
            <a:endParaRPr/>
          </a:p>
        </p:txBody>
      </p:sp>
      <p:sp>
        <p:nvSpPr>
          <p:cNvPr id="439" name="Google Shape;439;p15"/>
          <p:cNvSpPr/>
          <p:nvPr/>
        </p:nvSpPr>
        <p:spPr>
          <a:xfrm>
            <a:off x="795384" y="3797289"/>
            <a:ext cx="2005503" cy="2005503"/>
          </a:xfrm>
          <a:custGeom>
            <a:rect b="b" l="l" r="r" t="t"/>
            <a:pathLst>
              <a:path extrusionOk="0" h="2005503" w="2005503">
                <a:moveTo>
                  <a:pt x="0" y="0"/>
                </a:moveTo>
                <a:lnTo>
                  <a:pt x="2005503" y="0"/>
                </a:lnTo>
                <a:lnTo>
                  <a:pt x="2005503" y="2005503"/>
                </a:lnTo>
                <a:lnTo>
                  <a:pt x="0" y="20055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2999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