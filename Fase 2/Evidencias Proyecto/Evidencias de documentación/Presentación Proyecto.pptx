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nva Sans" panose="020B0604020202020204" charset="0"/>
      <p:regular r:id="rId16"/>
    </p:embeddedFont>
    <p:embeddedFont>
      <p:font typeface="Open Sans 1" panose="020B0604020202020204" charset="0"/>
      <p:regular r:id="rId17"/>
    </p:embeddedFont>
    <p:embeddedFont>
      <p:font typeface="Open Sans 1 Bold" panose="020B0604020202020204" charset="0"/>
      <p:regular r:id="rId18"/>
    </p:embeddedFont>
    <p:embeddedFont>
      <p:font typeface="Open Sans 1 Italics" panose="020B0604020202020204" charset="0"/>
      <p:regular r:id="rId19"/>
    </p:embeddedFont>
    <p:embeddedFont>
      <p:font typeface="Open Sans 2" panose="020B0604020202020204" charset="0"/>
      <p:regular r:id="rId20"/>
    </p:embeddedFont>
    <p:embeddedFont>
      <p:font typeface="Poppi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B28">
                <a:alpha val="100000"/>
              </a:srgbClr>
            </a:gs>
            <a:gs pos="100000">
              <a:srgbClr val="06041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3922" y="337571"/>
            <a:ext cx="309501" cy="309501"/>
          </a:xfrm>
          <a:custGeom>
            <a:avLst/>
            <a:gdLst/>
            <a:ahLst/>
            <a:cxnLst/>
            <a:rect l="l" t="t" r="r" b="b"/>
            <a:pathLst>
              <a:path w="309501" h="309501">
                <a:moveTo>
                  <a:pt x="0" y="0"/>
                </a:moveTo>
                <a:lnTo>
                  <a:pt x="309501" y="0"/>
                </a:lnTo>
                <a:lnTo>
                  <a:pt x="309501" y="309501"/>
                </a:lnTo>
                <a:lnTo>
                  <a:pt x="0" y="309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grpSp>
        <p:nvGrpSpPr>
          <p:cNvPr id="3" name="Group 3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747432" y="8717732"/>
            <a:ext cx="540568" cy="540568"/>
            <a:chOff x="0" y="0"/>
            <a:chExt cx="72536" cy="7253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47432" y="8177164"/>
            <a:ext cx="540568" cy="540568"/>
            <a:chOff x="0" y="0"/>
            <a:chExt cx="72536" cy="72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0" y="3001906"/>
            <a:ext cx="17259300" cy="3596270"/>
            <a:chOff x="0" y="0"/>
            <a:chExt cx="4545659" cy="9471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545659" cy="947166"/>
            </a:xfrm>
            <a:custGeom>
              <a:avLst/>
              <a:gdLst/>
              <a:ahLst/>
              <a:cxnLst/>
              <a:rect l="l" t="t" r="r" b="b"/>
              <a:pathLst>
                <a:path w="4545659" h="947166">
                  <a:moveTo>
                    <a:pt x="0" y="0"/>
                  </a:moveTo>
                  <a:lnTo>
                    <a:pt x="4545659" y="0"/>
                  </a:lnTo>
                  <a:lnTo>
                    <a:pt x="4545659" y="947166"/>
                  </a:lnTo>
                  <a:lnTo>
                    <a:pt x="0" y="947166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545659" cy="985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3001906"/>
            <a:ext cx="3596270" cy="3596270"/>
            <a:chOff x="0" y="0"/>
            <a:chExt cx="947166" cy="94716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47166" cy="947166"/>
            </a:xfrm>
            <a:custGeom>
              <a:avLst/>
              <a:gdLst/>
              <a:ahLst/>
              <a:cxnLst/>
              <a:rect l="l" t="t" r="r" b="b"/>
              <a:pathLst>
                <a:path w="947166" h="947166">
                  <a:moveTo>
                    <a:pt x="0" y="0"/>
                  </a:moveTo>
                  <a:lnTo>
                    <a:pt x="947166" y="0"/>
                  </a:lnTo>
                  <a:lnTo>
                    <a:pt x="947166" y="947166"/>
                  </a:lnTo>
                  <a:lnTo>
                    <a:pt x="0" y="947166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947166" cy="985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594518" y="3100197"/>
            <a:ext cx="12346325" cy="31425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330"/>
              </a:lnSpc>
              <a:spcBef>
                <a:spcPct val="0"/>
              </a:spcBef>
            </a:pPr>
            <a:r>
              <a:rPr lang="en-US" sz="8807" b="1">
                <a:solidFill>
                  <a:srgbClr val="00FFEC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 “CLAWBOARD”</a:t>
            </a:r>
          </a:p>
        </p:txBody>
      </p:sp>
      <p:sp>
        <p:nvSpPr>
          <p:cNvPr id="19" name="Freeform 19"/>
          <p:cNvSpPr/>
          <p:nvPr/>
        </p:nvSpPr>
        <p:spPr>
          <a:xfrm>
            <a:off x="795384" y="3797289"/>
            <a:ext cx="2005503" cy="2005503"/>
          </a:xfrm>
          <a:custGeom>
            <a:avLst/>
            <a:gdLst/>
            <a:ahLst/>
            <a:cxnLst/>
            <a:rect l="l" t="t" r="r" b="b"/>
            <a:pathLst>
              <a:path w="2005503" h="2005503">
                <a:moveTo>
                  <a:pt x="0" y="0"/>
                </a:moveTo>
                <a:lnTo>
                  <a:pt x="2005503" y="0"/>
                </a:lnTo>
                <a:lnTo>
                  <a:pt x="2005503" y="2005503"/>
                </a:lnTo>
                <a:lnTo>
                  <a:pt x="0" y="20055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grpSp>
        <p:nvGrpSpPr>
          <p:cNvPr id="20" name="Group 20"/>
          <p:cNvGrpSpPr/>
          <p:nvPr/>
        </p:nvGrpSpPr>
        <p:grpSpPr>
          <a:xfrm>
            <a:off x="5665666" y="7578771"/>
            <a:ext cx="49102" cy="598393"/>
            <a:chOff x="0" y="0"/>
            <a:chExt cx="12932" cy="15760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932" cy="157601"/>
            </a:xfrm>
            <a:custGeom>
              <a:avLst/>
              <a:gdLst/>
              <a:ahLst/>
              <a:cxnLst/>
              <a:rect l="l" t="t" r="r" b="b"/>
              <a:pathLst>
                <a:path w="12932" h="157601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206982" y="7598250"/>
            <a:ext cx="6415352" cy="51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PRESENTACIÓN FINAL CAPSTONE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B28">
                <a:alpha val="100000"/>
              </a:srgbClr>
            </a:gs>
            <a:gs pos="100000">
              <a:srgbClr val="06041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3922" y="337571"/>
            <a:ext cx="309501" cy="309501"/>
          </a:xfrm>
          <a:custGeom>
            <a:avLst/>
            <a:gdLst/>
            <a:ahLst/>
            <a:cxnLst/>
            <a:rect l="l" t="t" r="r" b="b"/>
            <a:pathLst>
              <a:path w="309501" h="309501">
                <a:moveTo>
                  <a:pt x="0" y="0"/>
                </a:moveTo>
                <a:lnTo>
                  <a:pt x="309501" y="0"/>
                </a:lnTo>
                <a:lnTo>
                  <a:pt x="309501" y="309501"/>
                </a:lnTo>
                <a:lnTo>
                  <a:pt x="0" y="309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028700" y="405840"/>
            <a:ext cx="1550287" cy="19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Wardiere Inc.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940842" y="405840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Contact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385046" y="405840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About Me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154289" y="405840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Project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98530" y="405840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Home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747432" y="8717732"/>
            <a:ext cx="540568" cy="540568"/>
            <a:chOff x="0" y="0"/>
            <a:chExt cx="72536" cy="7253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747432" y="8177164"/>
            <a:ext cx="540568" cy="540568"/>
            <a:chOff x="0" y="0"/>
            <a:chExt cx="72536" cy="7253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584281" y="3016638"/>
            <a:ext cx="5881875" cy="6747598"/>
            <a:chOff x="0" y="0"/>
            <a:chExt cx="1129046" cy="12952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29046" cy="1295225"/>
            </a:xfrm>
            <a:custGeom>
              <a:avLst/>
              <a:gdLst/>
              <a:ahLst/>
              <a:cxnLst/>
              <a:rect l="l" t="t" r="r" b="b"/>
              <a:pathLst>
                <a:path w="1129046" h="1295225">
                  <a:moveTo>
                    <a:pt x="0" y="0"/>
                  </a:moveTo>
                  <a:lnTo>
                    <a:pt x="1129046" y="0"/>
                  </a:lnTo>
                  <a:lnTo>
                    <a:pt x="1129046" y="1295225"/>
                  </a:lnTo>
                  <a:lnTo>
                    <a:pt x="0" y="1295225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1129046" cy="1333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648550" y="7216847"/>
            <a:ext cx="3753338" cy="438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620" b="1">
                <a:solidFill>
                  <a:srgbClr val="00FFE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Gabriel Serrano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433146" y="7870136"/>
            <a:ext cx="4184145" cy="57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5479" lvl="1" indent="-177740" algn="ctr">
              <a:lnSpc>
                <a:spcPts val="2305"/>
              </a:lnSpc>
              <a:buFont typeface="Arial"/>
              <a:buChar char="•"/>
            </a:pPr>
            <a:r>
              <a:rPr lang="en-US" sz="1646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Coordinador de proyecto</a:t>
            </a:r>
          </a:p>
          <a:p>
            <a:pPr marL="355479" lvl="1" indent="-177740" algn="ctr">
              <a:lnSpc>
                <a:spcPts val="2305"/>
              </a:lnSpc>
              <a:spcBef>
                <a:spcPct val="0"/>
              </a:spcBef>
              <a:buFont typeface="Arial"/>
              <a:buChar char="•"/>
            </a:pPr>
            <a:r>
              <a:rPr lang="en-US" sz="1646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Desarrollador Back-end/Front-end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9033419" y="3016638"/>
            <a:ext cx="5881875" cy="6747598"/>
            <a:chOff x="0" y="0"/>
            <a:chExt cx="1129046" cy="129522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29046" cy="1295225"/>
            </a:xfrm>
            <a:custGeom>
              <a:avLst/>
              <a:gdLst/>
              <a:ahLst/>
              <a:cxnLst/>
              <a:rect l="l" t="t" r="r" b="b"/>
              <a:pathLst>
                <a:path w="1129046" h="1295225">
                  <a:moveTo>
                    <a:pt x="0" y="0"/>
                  </a:moveTo>
                  <a:lnTo>
                    <a:pt x="1129046" y="0"/>
                  </a:lnTo>
                  <a:lnTo>
                    <a:pt x="1129046" y="1295225"/>
                  </a:lnTo>
                  <a:lnTo>
                    <a:pt x="0" y="1295225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129046" cy="13333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0097688" y="7216847"/>
            <a:ext cx="3753338" cy="438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69"/>
              </a:lnSpc>
              <a:spcBef>
                <a:spcPct val="0"/>
              </a:spcBef>
            </a:pPr>
            <a:r>
              <a:rPr lang="en-US" sz="2620" b="1">
                <a:solidFill>
                  <a:srgbClr val="00FFEC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Patricia Piñones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3675523" y="3016638"/>
            <a:ext cx="3726365" cy="3499269"/>
            <a:chOff x="0" y="0"/>
            <a:chExt cx="4968486" cy="4665691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4"/>
            <a:srcRect t="3047" b="3047"/>
            <a:stretch>
              <a:fillRect/>
            </a:stretch>
          </p:blipFill>
          <p:spPr>
            <a:xfrm>
              <a:off x="0" y="0"/>
              <a:ext cx="4968486" cy="4665691"/>
            </a:xfrm>
            <a:prstGeom prst="rect">
              <a:avLst/>
            </a:prstGeom>
          </p:spPr>
        </p:pic>
      </p:grpSp>
      <p:grpSp>
        <p:nvGrpSpPr>
          <p:cNvPr id="31" name="Group 31"/>
          <p:cNvGrpSpPr/>
          <p:nvPr/>
        </p:nvGrpSpPr>
        <p:grpSpPr>
          <a:xfrm rot="16200000">
            <a:off x="9985655" y="2853297"/>
            <a:ext cx="3825750" cy="3499269"/>
            <a:chOff x="0" y="0"/>
            <a:chExt cx="5101000" cy="4665691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5"/>
            <a:srcRect l="3566" t="21909" r="-12896" b="21909"/>
            <a:stretch>
              <a:fillRect/>
            </a:stretch>
          </p:blipFill>
          <p:spPr>
            <a:xfrm>
              <a:off x="0" y="0"/>
              <a:ext cx="5101000" cy="4665691"/>
            </a:xfrm>
            <a:prstGeom prst="rect">
              <a:avLst/>
            </a:prstGeom>
          </p:spPr>
        </p:pic>
      </p:grpSp>
      <p:sp>
        <p:nvSpPr>
          <p:cNvPr id="33" name="TextBox 33"/>
          <p:cNvSpPr txBox="1"/>
          <p:nvPr/>
        </p:nvSpPr>
        <p:spPr>
          <a:xfrm>
            <a:off x="3443285" y="1541621"/>
            <a:ext cx="10623144" cy="1192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77"/>
              </a:lnSpc>
            </a:pPr>
            <a:r>
              <a:rPr lang="en-US" sz="7261" b="1">
                <a:solidFill>
                  <a:srgbClr val="00FFEC"/>
                </a:solidFill>
                <a:latin typeface="Poppins Bold"/>
                <a:ea typeface="Poppins Bold"/>
                <a:cs typeface="Poppins Bold"/>
                <a:sym typeface="Poppins Bold"/>
              </a:rPr>
              <a:t>Equipo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025275" y="7902751"/>
            <a:ext cx="4184145" cy="571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5479" lvl="1" indent="-177740" algn="ctr">
              <a:lnSpc>
                <a:spcPts val="2305"/>
              </a:lnSpc>
              <a:buFont typeface="Arial"/>
              <a:buChar char="•"/>
            </a:pPr>
            <a:r>
              <a:rPr lang="en-US" sz="1646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Coordinador de proyecto</a:t>
            </a:r>
          </a:p>
          <a:p>
            <a:pPr marL="355479" lvl="1" indent="-177740" algn="ctr">
              <a:lnSpc>
                <a:spcPts val="2305"/>
              </a:lnSpc>
              <a:spcBef>
                <a:spcPct val="0"/>
              </a:spcBef>
              <a:buFont typeface="Arial"/>
              <a:buChar char="•"/>
            </a:pPr>
            <a:r>
              <a:rPr lang="en-US" sz="1646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Desarrollador Back-end/Front-end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B28">
                <a:alpha val="100000"/>
              </a:srgbClr>
            </a:gs>
            <a:gs pos="100000">
              <a:srgbClr val="06041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3922" y="337571"/>
            <a:ext cx="309501" cy="309501"/>
          </a:xfrm>
          <a:custGeom>
            <a:avLst/>
            <a:gdLst/>
            <a:ahLst/>
            <a:cxnLst/>
            <a:rect l="l" t="t" r="r" b="b"/>
            <a:pathLst>
              <a:path w="309501" h="309501">
                <a:moveTo>
                  <a:pt x="0" y="0"/>
                </a:moveTo>
                <a:lnTo>
                  <a:pt x="309501" y="0"/>
                </a:lnTo>
                <a:lnTo>
                  <a:pt x="309501" y="309501"/>
                </a:lnTo>
                <a:lnTo>
                  <a:pt x="0" y="309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47432" y="8717732"/>
            <a:ext cx="540568" cy="540568"/>
            <a:chOff x="0" y="0"/>
            <a:chExt cx="72536" cy="72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747432" y="8177164"/>
            <a:ext cx="540568" cy="540568"/>
            <a:chOff x="0" y="0"/>
            <a:chExt cx="72536" cy="725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4201631"/>
            <a:ext cx="66161" cy="806277"/>
            <a:chOff x="0" y="0"/>
            <a:chExt cx="12932" cy="15760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932" cy="157601"/>
            </a:xfrm>
            <a:custGeom>
              <a:avLst/>
              <a:gdLst/>
              <a:ahLst/>
              <a:cxnLst/>
              <a:rect l="l" t="t" r="r" b="b"/>
              <a:pathLst>
                <a:path w="12932" h="157601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28700" y="7247656"/>
            <a:ext cx="66161" cy="806277"/>
            <a:chOff x="0" y="0"/>
            <a:chExt cx="12932" cy="15760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932" cy="157601"/>
            </a:xfrm>
            <a:custGeom>
              <a:avLst/>
              <a:gdLst/>
              <a:ahLst/>
              <a:cxnLst/>
              <a:rect l="l" t="t" r="r" b="b"/>
              <a:pathLst>
                <a:path w="12932" h="157601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 rot="-7702242" flipH="1">
            <a:off x="2501850" y="5499718"/>
            <a:ext cx="1006918" cy="943986"/>
          </a:xfrm>
          <a:custGeom>
            <a:avLst/>
            <a:gdLst/>
            <a:ahLst/>
            <a:cxnLst/>
            <a:rect l="l" t="t" r="r" b="b"/>
            <a:pathLst>
              <a:path w="1006918" h="943986">
                <a:moveTo>
                  <a:pt x="1006918" y="0"/>
                </a:moveTo>
                <a:lnTo>
                  <a:pt x="0" y="0"/>
                </a:lnTo>
                <a:lnTo>
                  <a:pt x="0" y="943985"/>
                </a:lnTo>
                <a:lnTo>
                  <a:pt x="1006918" y="943985"/>
                </a:lnTo>
                <a:lnTo>
                  <a:pt x="10069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sp>
        <p:nvSpPr>
          <p:cNvPr id="22" name="TextBox 22"/>
          <p:cNvSpPr txBox="1"/>
          <p:nvPr/>
        </p:nvSpPr>
        <p:spPr>
          <a:xfrm>
            <a:off x="1028700" y="1612581"/>
            <a:ext cx="11913945" cy="101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60"/>
              </a:lnSpc>
            </a:pPr>
            <a:r>
              <a:rPr lang="en-US" sz="6128" b="1">
                <a:solidFill>
                  <a:srgbClr val="00FFEC"/>
                </a:solidFill>
                <a:latin typeface="Poppins Bold"/>
                <a:ea typeface="Poppins Bold"/>
                <a:cs typeface="Poppins Bold"/>
                <a:sym typeface="Poppins Bold"/>
              </a:rPr>
              <a:t>DESCRIPCIÓN DEL PROYECTO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80042" y="3877909"/>
            <a:ext cx="6161673" cy="1406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445" lvl="1" indent="-217723" algn="l">
              <a:lnSpc>
                <a:spcPts val="2823"/>
              </a:lnSpc>
              <a:buFont typeface="Arial"/>
              <a:buChar char="•"/>
            </a:pPr>
            <a:r>
              <a:rPr lang="en-US" sz="2016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Estudiantes usan múltiples herramientas para sus apuntes.</a:t>
            </a:r>
          </a:p>
          <a:p>
            <a:pPr marL="435445" lvl="1" indent="-217723" algn="l">
              <a:lnSpc>
                <a:spcPts val="2823"/>
              </a:lnSpc>
              <a:buFont typeface="Arial"/>
              <a:buChar char="•"/>
            </a:pPr>
            <a:r>
              <a:rPr lang="en-US" sz="2016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Pérdida de información.</a:t>
            </a:r>
          </a:p>
          <a:p>
            <a:pPr marL="435445" lvl="1" indent="-217723" algn="l">
              <a:lnSpc>
                <a:spcPts val="2823"/>
              </a:lnSpc>
              <a:buFont typeface="Arial"/>
              <a:buChar char="•"/>
            </a:pPr>
            <a:r>
              <a:rPr lang="en-US" sz="2016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Mala coordinación entre plataformas.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480042" y="7097878"/>
            <a:ext cx="8177925" cy="2110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5445" lvl="1" indent="-217723" algn="l">
              <a:lnSpc>
                <a:spcPts val="2823"/>
              </a:lnSpc>
              <a:buFont typeface="Arial"/>
              <a:buChar char="•"/>
            </a:pPr>
            <a:r>
              <a:rPr lang="en-US" sz="2016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Plataforma centralizada, intuitiva y colaborativa para estudiantes.</a:t>
            </a:r>
          </a:p>
          <a:p>
            <a:pPr marL="435445" lvl="1" indent="-217723" algn="l">
              <a:lnSpc>
                <a:spcPts val="2823"/>
              </a:lnSpc>
              <a:buFont typeface="Arial"/>
              <a:buChar char="•"/>
            </a:pPr>
            <a:r>
              <a:rPr lang="en-US" sz="2016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Integra módulos de notas, archivos, calendario, recordatorios, flashcards, Pomodoro y tareas/kanban en un solo espacio.</a:t>
            </a:r>
          </a:p>
          <a:p>
            <a:pPr marL="435445" lvl="1" indent="-217723" algn="l">
              <a:lnSpc>
                <a:spcPts val="2823"/>
              </a:lnSpc>
              <a:buFont typeface="Arial"/>
              <a:buChar char="•"/>
            </a:pPr>
            <a:r>
              <a:rPr lang="en-US" sz="2016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Favorece la productividad y el aprendizaje activo.</a:t>
            </a:r>
          </a:p>
          <a:p>
            <a:pPr algn="l">
              <a:lnSpc>
                <a:spcPts val="2823"/>
              </a:lnSpc>
              <a:spcBef>
                <a:spcPct val="0"/>
              </a:spcBef>
            </a:pPr>
            <a:endParaRPr lang="en-US" sz="2016">
              <a:solidFill>
                <a:srgbClr val="FFFFFF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417077" y="4260741"/>
            <a:ext cx="4541600" cy="548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9"/>
              </a:lnSpc>
              <a:spcBef>
                <a:spcPct val="0"/>
              </a:spcBef>
            </a:pPr>
            <a:r>
              <a:rPr lang="en-US" sz="3171">
                <a:solidFill>
                  <a:srgbClr val="00FFEC"/>
                </a:solidFill>
                <a:latin typeface="Open Sans 1"/>
                <a:ea typeface="Open Sans 1"/>
                <a:cs typeface="Open Sans 1"/>
                <a:sym typeface="Open Sans 1"/>
              </a:rPr>
              <a:t>SITUACIÓN ACTUAL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3423" y="7343408"/>
            <a:ext cx="6385182" cy="548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9"/>
              </a:lnSpc>
              <a:spcBef>
                <a:spcPct val="0"/>
              </a:spcBef>
            </a:pPr>
            <a:r>
              <a:rPr lang="en-US" sz="3171">
                <a:solidFill>
                  <a:srgbClr val="00FFEC"/>
                </a:solidFill>
                <a:latin typeface="Open Sans 1"/>
                <a:ea typeface="Open Sans 1"/>
                <a:cs typeface="Open Sans 1"/>
                <a:sym typeface="Open Sans 1"/>
              </a:rPr>
              <a:t>PROPUESTA CLAWBOARD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B28">
                <a:alpha val="100000"/>
              </a:srgbClr>
            </a:gs>
            <a:gs pos="100000">
              <a:srgbClr val="06041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3922" y="337571"/>
            <a:ext cx="309501" cy="309501"/>
          </a:xfrm>
          <a:custGeom>
            <a:avLst/>
            <a:gdLst/>
            <a:ahLst/>
            <a:cxnLst/>
            <a:rect l="l" t="t" r="r" b="b"/>
            <a:pathLst>
              <a:path w="309501" h="309501">
                <a:moveTo>
                  <a:pt x="0" y="0"/>
                </a:moveTo>
                <a:lnTo>
                  <a:pt x="309501" y="0"/>
                </a:lnTo>
                <a:lnTo>
                  <a:pt x="309501" y="309501"/>
                </a:lnTo>
                <a:lnTo>
                  <a:pt x="0" y="309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47432" y="8717732"/>
            <a:ext cx="540568" cy="540568"/>
            <a:chOff x="0" y="0"/>
            <a:chExt cx="72536" cy="72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747432" y="8177164"/>
            <a:ext cx="540568" cy="540568"/>
            <a:chOff x="0" y="0"/>
            <a:chExt cx="72536" cy="725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53922" y="2785785"/>
            <a:ext cx="7078859" cy="90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9"/>
              </a:lnSpc>
            </a:pPr>
            <a:r>
              <a:rPr lang="en-US" sz="5503" b="1">
                <a:solidFill>
                  <a:srgbClr val="00FFEC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 General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3423" y="4315678"/>
            <a:ext cx="8115300" cy="2664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6"/>
              </a:lnSpc>
            </a:pPr>
            <a:r>
              <a:rPr lang="en-US" sz="3047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Desarrollar una plataforma web que centralice la organización académica de los estudiantes, mejorando su productividad y gestión del tiempo.</a:t>
            </a:r>
          </a:p>
          <a:p>
            <a:pPr algn="l">
              <a:lnSpc>
                <a:spcPts val="4266"/>
              </a:lnSpc>
              <a:spcBef>
                <a:spcPct val="0"/>
              </a:spcBef>
            </a:pPr>
            <a:endParaRPr lang="en-US" sz="3047">
              <a:solidFill>
                <a:srgbClr val="FFFFFF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504820" y="4372828"/>
            <a:ext cx="65707" cy="1806021"/>
            <a:chOff x="0" y="0"/>
            <a:chExt cx="17305" cy="4756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7305" cy="475660"/>
            </a:xfrm>
            <a:custGeom>
              <a:avLst/>
              <a:gdLst/>
              <a:ahLst/>
              <a:cxnLst/>
              <a:rect l="l" t="t" r="r" b="b"/>
              <a:pathLst>
                <a:path w="17305" h="475660">
                  <a:moveTo>
                    <a:pt x="0" y="0"/>
                  </a:moveTo>
                  <a:lnTo>
                    <a:pt x="17305" y="0"/>
                  </a:lnTo>
                  <a:lnTo>
                    <a:pt x="17305" y="475660"/>
                  </a:lnTo>
                  <a:lnTo>
                    <a:pt x="0" y="475660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7305" cy="513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9339705" y="2785785"/>
            <a:ext cx="8107559" cy="90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9"/>
              </a:lnSpc>
            </a:pPr>
            <a:r>
              <a:rPr lang="en-US" sz="5503" b="1">
                <a:solidFill>
                  <a:srgbClr val="00FFEC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 Específicos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9273998" y="4372828"/>
            <a:ext cx="65707" cy="1806021"/>
            <a:chOff x="0" y="0"/>
            <a:chExt cx="17305" cy="4756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305" cy="475660"/>
            </a:xfrm>
            <a:custGeom>
              <a:avLst/>
              <a:gdLst/>
              <a:ahLst/>
              <a:cxnLst/>
              <a:rect l="l" t="t" r="r" b="b"/>
              <a:pathLst>
                <a:path w="17305" h="475660">
                  <a:moveTo>
                    <a:pt x="0" y="0"/>
                  </a:moveTo>
                  <a:lnTo>
                    <a:pt x="17305" y="0"/>
                  </a:lnTo>
                  <a:lnTo>
                    <a:pt x="17305" y="475660"/>
                  </a:lnTo>
                  <a:lnTo>
                    <a:pt x="0" y="475660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17305" cy="513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9464368" y="3984396"/>
            <a:ext cx="8115300" cy="5934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Implementar un sistema de gestión de usuarios con roles (Admin/Alumno).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Desarrollar módulos para notas, almacenamiento de archivos y calendario académico.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Incorporar funcionalidades de apoyo al estudio (flashcards, Pomodoro, kanban).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Garantizar la seguridad y confiabilidad del sistema mediante autenticación y respaldo de datos.</a:t>
            </a:r>
          </a:p>
          <a:p>
            <a:pPr marL="561337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Fomentar la colaboración entre estudiantes mediante acceso compartido a recursos.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  <a:endParaRPr lang="en-US" sz="2599">
              <a:solidFill>
                <a:srgbClr val="FFFFFF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B28">
                <a:alpha val="100000"/>
              </a:srgbClr>
            </a:gs>
            <a:gs pos="100000">
              <a:srgbClr val="06041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3922" y="337571"/>
            <a:ext cx="309501" cy="309501"/>
          </a:xfrm>
          <a:custGeom>
            <a:avLst/>
            <a:gdLst/>
            <a:ahLst/>
            <a:cxnLst/>
            <a:rect l="l" t="t" r="r" b="b"/>
            <a:pathLst>
              <a:path w="309501" h="309501">
                <a:moveTo>
                  <a:pt x="0" y="0"/>
                </a:moveTo>
                <a:lnTo>
                  <a:pt x="309501" y="0"/>
                </a:lnTo>
                <a:lnTo>
                  <a:pt x="309501" y="309501"/>
                </a:lnTo>
                <a:lnTo>
                  <a:pt x="0" y="309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47432" y="8717732"/>
            <a:ext cx="540568" cy="540568"/>
            <a:chOff x="0" y="0"/>
            <a:chExt cx="72536" cy="72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747432" y="8177164"/>
            <a:ext cx="540568" cy="540568"/>
            <a:chOff x="0" y="0"/>
            <a:chExt cx="72536" cy="725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70526" y="1341876"/>
            <a:ext cx="10041515" cy="264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9"/>
              </a:lnSpc>
            </a:pPr>
            <a:r>
              <a:rPr lang="en-US" sz="5503" b="1">
                <a:solidFill>
                  <a:srgbClr val="00FFEC"/>
                </a:solidFill>
                <a:latin typeface="Poppins Bold"/>
                <a:ea typeface="Poppins Bold"/>
                <a:cs typeface="Poppins Bold"/>
                <a:sym typeface="Poppins Bold"/>
              </a:rPr>
              <a:t>Alcances y limitaciones del proyecto</a:t>
            </a:r>
          </a:p>
          <a:p>
            <a:pPr algn="l">
              <a:lnSpc>
                <a:spcPts val="6879"/>
              </a:lnSpc>
            </a:pPr>
            <a:endParaRPr lang="en-US" sz="5503" b="1">
              <a:solidFill>
                <a:srgbClr val="00FFEC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63423" y="4315678"/>
            <a:ext cx="8115300" cy="2127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6"/>
              </a:lnSpc>
            </a:pPr>
            <a:r>
              <a:rPr lang="en-US" sz="3047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El proyecto APT busca entregar una plataforma web integral para estudiantes, combinando la administración académica</a:t>
            </a:r>
          </a:p>
          <a:p>
            <a:pPr algn="l">
              <a:lnSpc>
                <a:spcPts val="4266"/>
              </a:lnSpc>
              <a:spcBef>
                <a:spcPct val="0"/>
              </a:spcBef>
            </a:pPr>
            <a:endParaRPr lang="en-US" sz="3047">
              <a:solidFill>
                <a:srgbClr val="FFFFFF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B28">
                <a:alpha val="100000"/>
              </a:srgbClr>
            </a:gs>
            <a:gs pos="100000">
              <a:srgbClr val="06041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3922" y="337571"/>
            <a:ext cx="309501" cy="309501"/>
          </a:xfrm>
          <a:custGeom>
            <a:avLst/>
            <a:gdLst/>
            <a:ahLst/>
            <a:cxnLst/>
            <a:rect l="l" t="t" r="r" b="b"/>
            <a:pathLst>
              <a:path w="309501" h="309501">
                <a:moveTo>
                  <a:pt x="0" y="0"/>
                </a:moveTo>
                <a:lnTo>
                  <a:pt x="309501" y="0"/>
                </a:lnTo>
                <a:lnTo>
                  <a:pt x="309501" y="309501"/>
                </a:lnTo>
                <a:lnTo>
                  <a:pt x="0" y="309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47432" y="8717732"/>
            <a:ext cx="540568" cy="540568"/>
            <a:chOff x="0" y="0"/>
            <a:chExt cx="72536" cy="72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747432" y="8177164"/>
            <a:ext cx="540568" cy="540568"/>
            <a:chOff x="0" y="0"/>
            <a:chExt cx="72536" cy="725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70526" y="952500"/>
            <a:ext cx="12572117" cy="264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9"/>
              </a:lnSpc>
            </a:pPr>
            <a:r>
              <a:rPr lang="en-US" sz="5503" b="1">
                <a:solidFill>
                  <a:srgbClr val="00FFEC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 de trabajo para el desarrollo del proyecto</a:t>
            </a:r>
          </a:p>
          <a:p>
            <a:pPr algn="l">
              <a:lnSpc>
                <a:spcPts val="6879"/>
              </a:lnSpc>
            </a:pPr>
            <a:endParaRPr lang="en-US" sz="5503" b="1">
              <a:solidFill>
                <a:srgbClr val="00FFEC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580140" y="2616985"/>
            <a:ext cx="17193510" cy="5830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863"/>
              </a:lnSpc>
            </a:pPr>
            <a:r>
              <a:rPr lang="en-US" sz="2759">
                <a:solidFill>
                  <a:srgbClr val="00FFEC"/>
                </a:solidFill>
                <a:latin typeface="Open Sans 2"/>
                <a:ea typeface="Open Sans 2"/>
                <a:cs typeface="Open Sans 2"/>
                <a:sym typeface="Open Sans 2"/>
              </a:rPr>
              <a:t>El desarrollo se realizó bajo la metodología en cascada, con entregas semanales cada viernes.</a:t>
            </a:r>
          </a:p>
          <a:p>
            <a:pPr algn="just">
              <a:lnSpc>
                <a:spcPts val="3863"/>
              </a:lnSpc>
            </a:pPr>
            <a:r>
              <a:rPr lang="en-US" sz="2759">
                <a:solidFill>
                  <a:srgbClr val="00FFEC"/>
                </a:solidFill>
                <a:latin typeface="Open Sans 2"/>
                <a:ea typeface="Open Sans 2"/>
                <a:cs typeface="Open Sans 2"/>
                <a:sym typeface="Open Sans 2"/>
              </a:rPr>
              <a:t> Cada etapa debía completarse antes de iniciar la siguiente, garantizando orden y control del avance.</a:t>
            </a:r>
          </a:p>
          <a:p>
            <a:pPr algn="just">
              <a:lnSpc>
                <a:spcPts val="3863"/>
              </a:lnSpc>
            </a:pPr>
            <a:r>
              <a:rPr lang="en-US" sz="2759">
                <a:solidFill>
                  <a:srgbClr val="00FFEC"/>
                </a:solidFill>
                <a:latin typeface="Open Sans 2"/>
                <a:ea typeface="Open Sans 2"/>
                <a:cs typeface="Open Sans 2"/>
                <a:sym typeface="Open Sans 2"/>
              </a:rPr>
              <a:t> Las fases incluyeron:</a:t>
            </a:r>
          </a:p>
          <a:p>
            <a:pPr algn="just">
              <a:lnSpc>
                <a:spcPts val="3863"/>
              </a:lnSpc>
            </a:pPr>
            <a:endParaRPr lang="en-US" sz="2759">
              <a:solidFill>
                <a:srgbClr val="00FFEC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just">
              <a:lnSpc>
                <a:spcPts val="3863"/>
              </a:lnSpc>
            </a:pPr>
            <a:r>
              <a:rPr lang="en-US" sz="2759">
                <a:solidFill>
                  <a:srgbClr val="00FFEC"/>
                </a:solidFill>
                <a:latin typeface="Open Sans 2"/>
                <a:ea typeface="Open Sans 2"/>
                <a:cs typeface="Open Sans 2"/>
                <a:sym typeface="Open Sans 2"/>
              </a:rPr>
              <a:t>1-Análisis de requerimientos.</a:t>
            </a:r>
          </a:p>
          <a:p>
            <a:pPr algn="just">
              <a:lnSpc>
                <a:spcPts val="3863"/>
              </a:lnSpc>
            </a:pPr>
            <a:r>
              <a:rPr lang="en-US" sz="2759">
                <a:solidFill>
                  <a:srgbClr val="00FFEC"/>
                </a:solidFill>
                <a:latin typeface="Open Sans 2"/>
                <a:ea typeface="Open Sans 2"/>
                <a:cs typeface="Open Sans 2"/>
                <a:sym typeface="Open Sans 2"/>
              </a:rPr>
              <a:t>2-Diseño técnico (arquitectura y modelo de datos).</a:t>
            </a:r>
          </a:p>
          <a:p>
            <a:pPr algn="just">
              <a:lnSpc>
                <a:spcPts val="3863"/>
              </a:lnSpc>
            </a:pPr>
            <a:r>
              <a:rPr lang="en-US" sz="2759">
                <a:solidFill>
                  <a:srgbClr val="00FFEC"/>
                </a:solidFill>
                <a:latin typeface="Open Sans 2"/>
                <a:ea typeface="Open Sans 2"/>
                <a:cs typeface="Open Sans 2"/>
                <a:sym typeface="Open Sans 2"/>
              </a:rPr>
              <a:t>3-Programación e implementación.</a:t>
            </a:r>
          </a:p>
          <a:p>
            <a:pPr algn="just">
              <a:lnSpc>
                <a:spcPts val="3863"/>
              </a:lnSpc>
            </a:pPr>
            <a:r>
              <a:rPr lang="en-US" sz="2759">
                <a:solidFill>
                  <a:srgbClr val="00FFEC"/>
                </a:solidFill>
                <a:latin typeface="Open Sans 2"/>
                <a:ea typeface="Open Sans 2"/>
                <a:cs typeface="Open Sans 2"/>
                <a:sym typeface="Open Sans 2"/>
              </a:rPr>
              <a:t>4-Pruebas funcionales y corrección de errores</a:t>
            </a:r>
          </a:p>
          <a:p>
            <a:pPr algn="just">
              <a:lnSpc>
                <a:spcPts val="3863"/>
              </a:lnSpc>
            </a:pPr>
            <a:r>
              <a:rPr lang="en-US" sz="2759">
                <a:solidFill>
                  <a:srgbClr val="00FFEC"/>
                </a:solidFill>
                <a:latin typeface="Open Sans 2"/>
                <a:ea typeface="Open Sans 2"/>
                <a:cs typeface="Open Sans 2"/>
                <a:sym typeface="Open Sans 2"/>
              </a:rPr>
              <a:t>5-Documentación y presentación final.</a:t>
            </a:r>
          </a:p>
          <a:p>
            <a:pPr algn="just">
              <a:lnSpc>
                <a:spcPts val="3863"/>
              </a:lnSpc>
            </a:pPr>
            <a:endParaRPr lang="en-US" sz="2759">
              <a:solidFill>
                <a:srgbClr val="00FFEC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algn="just">
              <a:lnSpc>
                <a:spcPts val="3863"/>
              </a:lnSpc>
            </a:pPr>
            <a:r>
              <a:rPr lang="en-US" sz="2759">
                <a:solidFill>
                  <a:srgbClr val="00FFEC"/>
                </a:solidFill>
                <a:latin typeface="Open Sans 2"/>
                <a:ea typeface="Open Sans 2"/>
                <a:cs typeface="Open Sans 2"/>
                <a:sym typeface="Open Sans 2"/>
              </a:rPr>
              <a:t>Este enfoque permitió mantener un ritmo constante de trabajo y validar el progreso en cada entrega.</a:t>
            </a:r>
          </a:p>
          <a:p>
            <a:pPr algn="ctr">
              <a:lnSpc>
                <a:spcPts val="3863"/>
              </a:lnSpc>
            </a:pPr>
            <a:endParaRPr lang="en-US" sz="2759">
              <a:solidFill>
                <a:srgbClr val="00FFEC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B28">
                <a:alpha val="100000"/>
              </a:srgbClr>
            </a:gs>
            <a:gs pos="100000">
              <a:srgbClr val="06041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3922" y="337571"/>
            <a:ext cx="309501" cy="309501"/>
          </a:xfrm>
          <a:custGeom>
            <a:avLst/>
            <a:gdLst/>
            <a:ahLst/>
            <a:cxnLst/>
            <a:rect l="l" t="t" r="r" b="b"/>
            <a:pathLst>
              <a:path w="309501" h="309501">
                <a:moveTo>
                  <a:pt x="0" y="0"/>
                </a:moveTo>
                <a:lnTo>
                  <a:pt x="309501" y="0"/>
                </a:lnTo>
                <a:lnTo>
                  <a:pt x="309501" y="309501"/>
                </a:lnTo>
                <a:lnTo>
                  <a:pt x="0" y="309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47432" y="8717732"/>
            <a:ext cx="540568" cy="540568"/>
            <a:chOff x="0" y="0"/>
            <a:chExt cx="72536" cy="72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747432" y="8177164"/>
            <a:ext cx="540568" cy="540568"/>
            <a:chOff x="0" y="0"/>
            <a:chExt cx="72536" cy="725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60802" y="1823142"/>
            <a:ext cx="49102" cy="2099924"/>
            <a:chOff x="0" y="0"/>
            <a:chExt cx="65470" cy="2799899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65470" cy="797857"/>
              <a:chOff x="0" y="0"/>
              <a:chExt cx="12932" cy="157601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12932" cy="157601"/>
              </a:xfrm>
              <a:custGeom>
                <a:avLst/>
                <a:gdLst/>
                <a:ahLst/>
                <a:cxnLst/>
                <a:rect l="l" t="t" r="r" b="b"/>
                <a:pathLst>
                  <a:path w="12932" h="157601">
                    <a:moveTo>
                      <a:pt x="0" y="0"/>
                    </a:moveTo>
                    <a:lnTo>
                      <a:pt x="12932" y="0"/>
                    </a:lnTo>
                    <a:lnTo>
                      <a:pt x="12932" y="157601"/>
                    </a:lnTo>
                    <a:lnTo>
                      <a:pt x="0" y="1576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FFEC">
                      <a:alpha val="100000"/>
                    </a:srgbClr>
                  </a:gs>
                  <a:gs pos="100000">
                    <a:srgbClr val="099187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s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0" y="-38100"/>
                <a:ext cx="12932" cy="1957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0" y="2002042"/>
              <a:ext cx="65470" cy="797857"/>
              <a:chOff x="0" y="0"/>
              <a:chExt cx="12932" cy="15760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2932" cy="157601"/>
              </a:xfrm>
              <a:custGeom>
                <a:avLst/>
                <a:gdLst/>
                <a:ahLst/>
                <a:cxnLst/>
                <a:rect l="l" t="t" r="r" b="b"/>
                <a:pathLst>
                  <a:path w="12932" h="157601">
                    <a:moveTo>
                      <a:pt x="0" y="0"/>
                    </a:moveTo>
                    <a:lnTo>
                      <a:pt x="12932" y="0"/>
                    </a:lnTo>
                    <a:lnTo>
                      <a:pt x="12932" y="157601"/>
                    </a:lnTo>
                    <a:lnTo>
                      <a:pt x="0" y="157601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FFEC">
                      <a:alpha val="100000"/>
                    </a:srgbClr>
                  </a:gs>
                  <a:gs pos="100000">
                    <a:srgbClr val="099187">
                      <a:alpha val="100000"/>
                    </a:srgbClr>
                  </a:gs>
                </a:gsLst>
                <a:lin ang="2700000"/>
              </a:gradFill>
            </p:spPr>
            <p:txBody>
              <a:bodyPr/>
              <a:lstStyle/>
              <a:p>
                <a:endParaRPr lang="es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38100"/>
                <a:ext cx="12932" cy="19570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23" name="TextBox 23"/>
          <p:cNvSpPr txBox="1"/>
          <p:nvPr/>
        </p:nvSpPr>
        <p:spPr>
          <a:xfrm>
            <a:off x="1028700" y="405840"/>
            <a:ext cx="1550287" cy="19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Wardiere Inc.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940842" y="405840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Contact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385046" y="405840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About Me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154289" y="405840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Project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898530" y="405840"/>
            <a:ext cx="8097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Home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07508" y="1468644"/>
            <a:ext cx="4779481" cy="2643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42"/>
              </a:lnSpc>
            </a:pPr>
            <a:r>
              <a:rPr lang="en-US" sz="8194" b="1">
                <a:solidFill>
                  <a:srgbClr val="00FFEC"/>
                </a:solidFill>
                <a:latin typeface="Poppins Bold"/>
                <a:ea typeface="Poppins Bold"/>
                <a:cs typeface="Poppins Bold"/>
                <a:sym typeface="Poppins Bold"/>
              </a:rPr>
              <a:t>Carta</a:t>
            </a:r>
          </a:p>
          <a:p>
            <a:pPr algn="l">
              <a:lnSpc>
                <a:spcPts val="10242"/>
              </a:lnSpc>
            </a:pPr>
            <a:r>
              <a:rPr lang="en-US" sz="8194" b="1">
                <a:solidFill>
                  <a:srgbClr val="00FFEC"/>
                </a:solidFill>
                <a:latin typeface="Poppins Bold"/>
                <a:ea typeface="Poppins Bold"/>
                <a:cs typeface="Poppins Bold"/>
                <a:sym typeface="Poppins Bold"/>
              </a:rPr>
              <a:t>Gantt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881ECC80-A593-179E-0F9A-DA7A38731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263287"/>
            <a:ext cx="9756426" cy="86519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B28">
                <a:alpha val="100000"/>
              </a:srgbClr>
            </a:gs>
            <a:gs pos="100000">
              <a:srgbClr val="06041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3922" y="337571"/>
            <a:ext cx="309501" cy="309501"/>
          </a:xfrm>
          <a:custGeom>
            <a:avLst/>
            <a:gdLst/>
            <a:ahLst/>
            <a:cxnLst/>
            <a:rect l="l" t="t" r="r" b="b"/>
            <a:pathLst>
              <a:path w="309501" h="309501">
                <a:moveTo>
                  <a:pt x="0" y="0"/>
                </a:moveTo>
                <a:lnTo>
                  <a:pt x="309501" y="0"/>
                </a:lnTo>
                <a:lnTo>
                  <a:pt x="309501" y="309501"/>
                </a:lnTo>
                <a:lnTo>
                  <a:pt x="0" y="309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47432" y="8717732"/>
            <a:ext cx="540568" cy="540568"/>
            <a:chOff x="0" y="0"/>
            <a:chExt cx="72536" cy="72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747432" y="8177164"/>
            <a:ext cx="540568" cy="540568"/>
            <a:chOff x="0" y="0"/>
            <a:chExt cx="72536" cy="725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70526" y="1341876"/>
            <a:ext cx="10041515" cy="90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9"/>
              </a:lnSpc>
            </a:pPr>
            <a:r>
              <a:rPr lang="en-US" sz="5503" b="1">
                <a:solidFill>
                  <a:srgbClr val="00FFEC"/>
                </a:solidFill>
                <a:latin typeface="Poppins Bold"/>
                <a:ea typeface="Poppins Bold"/>
                <a:cs typeface="Poppins Bold"/>
                <a:sym typeface="Poppins Bold"/>
              </a:rPr>
              <a:t>Arquitectura del software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76961" y="2796174"/>
            <a:ext cx="17734078" cy="5380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FFEC"/>
                </a:solidFill>
                <a:latin typeface="Open Sans 2"/>
                <a:ea typeface="Open Sans 2"/>
                <a:cs typeface="Open Sans 2"/>
                <a:sym typeface="Open Sans 2"/>
              </a:rPr>
              <a:t>ClawBoard se desarrolló bajo el patrón MVC (Modelo–Vista–Controlador) en .NET 8, separando la lógica de negocio, la interfaz y el control de flujo: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FFEC"/>
              </a:solidFill>
              <a:latin typeface="Open Sans 2"/>
              <a:ea typeface="Open Sans 2"/>
              <a:cs typeface="Open Sans 2"/>
              <a:sym typeface="Open Sans 2"/>
            </a:endParaRP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FFEC"/>
                </a:solidFill>
                <a:latin typeface="Open Sans 2"/>
                <a:ea typeface="Open Sans 2"/>
                <a:cs typeface="Open Sans 2"/>
                <a:sym typeface="Open Sans 2"/>
              </a:rPr>
              <a:t>Modelo: gestiona datos y reglas (usuarios, asignaturas, calificaciones, eventos).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FFEC"/>
                </a:solidFill>
                <a:latin typeface="Open Sans 2"/>
                <a:ea typeface="Open Sans 2"/>
                <a:cs typeface="Open Sans 2"/>
                <a:sym typeface="Open Sans 2"/>
              </a:rPr>
              <a:t>Vista: muestra la información al usuario.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FFEC"/>
                </a:solidFill>
                <a:latin typeface="Open Sans 2"/>
                <a:ea typeface="Open Sans 2"/>
                <a:cs typeface="Open Sans 2"/>
                <a:sym typeface="Open Sans 2"/>
              </a:rPr>
              <a:t>Controlador: recibe las peticiones y conecta las otras capas.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FFEC"/>
                </a:solidFill>
                <a:latin typeface="Open Sans 2"/>
                <a:ea typeface="Open Sans 2"/>
                <a:cs typeface="Open Sans 2"/>
                <a:sym typeface="Open Sans 2"/>
              </a:rPr>
              <a:t> Esta estructura favorece la modularidad, el mantenimiento y la escalabilidad del sistema.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FFEC"/>
              </a:solidFill>
              <a:latin typeface="Open Sans 2"/>
              <a:ea typeface="Open Sans 2"/>
              <a:cs typeface="Open Sans 2"/>
              <a:sym typeface="Open Sans 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B28">
                <a:alpha val="100000"/>
              </a:srgbClr>
            </a:gs>
            <a:gs pos="100000">
              <a:srgbClr val="06041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3922" y="337571"/>
            <a:ext cx="309501" cy="309501"/>
          </a:xfrm>
          <a:custGeom>
            <a:avLst/>
            <a:gdLst/>
            <a:ahLst/>
            <a:cxnLst/>
            <a:rect l="l" t="t" r="r" b="b"/>
            <a:pathLst>
              <a:path w="309501" h="309501">
                <a:moveTo>
                  <a:pt x="0" y="0"/>
                </a:moveTo>
                <a:lnTo>
                  <a:pt x="309501" y="0"/>
                </a:lnTo>
                <a:lnTo>
                  <a:pt x="309501" y="309501"/>
                </a:lnTo>
                <a:lnTo>
                  <a:pt x="0" y="309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47432" y="8717732"/>
            <a:ext cx="540568" cy="540568"/>
            <a:chOff x="0" y="0"/>
            <a:chExt cx="72536" cy="72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747432" y="8177164"/>
            <a:ext cx="540568" cy="540568"/>
            <a:chOff x="0" y="0"/>
            <a:chExt cx="72536" cy="725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619629" y="952500"/>
            <a:ext cx="10041515" cy="17748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9"/>
              </a:lnSpc>
            </a:pPr>
            <a:r>
              <a:rPr lang="en-US" sz="5503" b="1">
                <a:solidFill>
                  <a:srgbClr val="00FFEC"/>
                </a:solidFill>
                <a:latin typeface="Poppins Bold"/>
                <a:ea typeface="Poppins Bold"/>
                <a:cs typeface="Poppins Bold"/>
                <a:sym typeface="Poppins Bold"/>
              </a:rPr>
              <a:t>Modelo de datos</a:t>
            </a:r>
          </a:p>
          <a:p>
            <a:pPr algn="l">
              <a:lnSpc>
                <a:spcPts val="6879"/>
              </a:lnSpc>
            </a:pPr>
            <a:endParaRPr lang="en-US" sz="5503" b="1">
              <a:solidFill>
                <a:srgbClr val="00FFEC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2940723" y="1878001"/>
            <a:ext cx="12406554" cy="8250358"/>
          </a:xfrm>
          <a:custGeom>
            <a:avLst/>
            <a:gdLst/>
            <a:ahLst/>
            <a:cxnLst/>
            <a:rect l="l" t="t" r="r" b="b"/>
            <a:pathLst>
              <a:path w="12406554" h="8250358">
                <a:moveTo>
                  <a:pt x="0" y="0"/>
                </a:moveTo>
                <a:lnTo>
                  <a:pt x="12406554" y="0"/>
                </a:lnTo>
                <a:lnTo>
                  <a:pt x="12406554" y="8250358"/>
                </a:lnTo>
                <a:lnTo>
                  <a:pt x="0" y="82503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B28">
                <a:alpha val="100000"/>
              </a:srgbClr>
            </a:gs>
            <a:gs pos="100000">
              <a:srgbClr val="06041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3922" y="337571"/>
            <a:ext cx="309501" cy="309501"/>
          </a:xfrm>
          <a:custGeom>
            <a:avLst/>
            <a:gdLst/>
            <a:ahLst/>
            <a:cxnLst/>
            <a:rect l="l" t="t" r="r" b="b"/>
            <a:pathLst>
              <a:path w="309501" h="309501">
                <a:moveTo>
                  <a:pt x="0" y="0"/>
                </a:moveTo>
                <a:lnTo>
                  <a:pt x="309501" y="0"/>
                </a:lnTo>
                <a:lnTo>
                  <a:pt x="309501" y="309501"/>
                </a:lnTo>
                <a:lnTo>
                  <a:pt x="0" y="309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47432" y="8717732"/>
            <a:ext cx="540568" cy="540568"/>
            <a:chOff x="0" y="0"/>
            <a:chExt cx="72536" cy="72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747432" y="8177164"/>
            <a:ext cx="540568" cy="540568"/>
            <a:chOff x="0" y="0"/>
            <a:chExt cx="72536" cy="725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70526" y="1341876"/>
            <a:ext cx="10041515" cy="908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9"/>
              </a:lnSpc>
            </a:pPr>
            <a:r>
              <a:rPr lang="en-US" sz="5503" b="1">
                <a:solidFill>
                  <a:srgbClr val="00FFEC"/>
                </a:solidFill>
                <a:latin typeface="Poppins Bold"/>
                <a:ea typeface="Poppins Bold"/>
                <a:cs typeface="Poppins Bold"/>
                <a:sym typeface="Poppins Bold"/>
              </a:rPr>
              <a:t>Tecnologías utilizadas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2525" y="2793202"/>
            <a:ext cx="10027669" cy="4097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05"/>
              </a:lnSpc>
            </a:pPr>
            <a:r>
              <a:rPr lang="en-US" sz="2932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Lenguaje y framework: </a:t>
            </a:r>
            <a:r>
              <a:rPr lang="en-US" sz="2932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C# con .NET 8 (ASP.NET MVC)</a:t>
            </a:r>
          </a:p>
          <a:p>
            <a:pPr algn="l">
              <a:lnSpc>
                <a:spcPts val="4105"/>
              </a:lnSpc>
            </a:pPr>
            <a:endParaRPr lang="en-US" sz="2932">
              <a:solidFill>
                <a:srgbClr val="FFFFFF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algn="l">
              <a:lnSpc>
                <a:spcPts val="4105"/>
              </a:lnSpc>
            </a:pPr>
            <a:r>
              <a:rPr lang="en-US" sz="2932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Base de datos: </a:t>
            </a:r>
            <a:r>
              <a:rPr lang="en-US" sz="2932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SQL Server / SSMS</a:t>
            </a:r>
          </a:p>
          <a:p>
            <a:pPr algn="l">
              <a:lnSpc>
                <a:spcPts val="4105"/>
              </a:lnSpc>
            </a:pPr>
            <a:endParaRPr lang="en-US" sz="2932">
              <a:solidFill>
                <a:srgbClr val="FFFFFF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algn="l">
              <a:lnSpc>
                <a:spcPts val="4105"/>
              </a:lnSpc>
            </a:pPr>
            <a:r>
              <a:rPr lang="en-US" sz="2932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Entorno de desarrollo: </a:t>
            </a:r>
            <a:r>
              <a:rPr lang="en-US" sz="2932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Visual Studio 2022</a:t>
            </a:r>
          </a:p>
          <a:p>
            <a:pPr algn="l">
              <a:lnSpc>
                <a:spcPts val="4105"/>
              </a:lnSpc>
            </a:pPr>
            <a:endParaRPr lang="en-US" sz="2932">
              <a:solidFill>
                <a:srgbClr val="FFFFFF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algn="l">
              <a:lnSpc>
                <a:spcPts val="4105"/>
              </a:lnSpc>
            </a:pPr>
            <a:r>
              <a:rPr lang="en-US" sz="2932" b="1">
                <a:solidFill>
                  <a:srgbClr val="FFFFFF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Control de versiones: </a:t>
            </a:r>
            <a:r>
              <a:rPr lang="en-US" sz="2932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GitHub</a:t>
            </a:r>
          </a:p>
          <a:p>
            <a:pPr algn="l">
              <a:lnSpc>
                <a:spcPts val="4105"/>
              </a:lnSpc>
              <a:spcBef>
                <a:spcPct val="0"/>
              </a:spcBef>
            </a:pPr>
            <a:endParaRPr lang="en-US" sz="2932">
              <a:solidFill>
                <a:srgbClr val="FFFFFF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B28">
                <a:alpha val="100000"/>
              </a:srgbClr>
            </a:gs>
            <a:gs pos="100000">
              <a:srgbClr val="06041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3922" y="337571"/>
            <a:ext cx="309501" cy="309501"/>
          </a:xfrm>
          <a:custGeom>
            <a:avLst/>
            <a:gdLst/>
            <a:ahLst/>
            <a:cxnLst/>
            <a:rect l="l" t="t" r="r" b="b"/>
            <a:pathLst>
              <a:path w="309501" h="309501">
                <a:moveTo>
                  <a:pt x="0" y="0"/>
                </a:moveTo>
                <a:lnTo>
                  <a:pt x="309501" y="0"/>
                </a:lnTo>
                <a:lnTo>
                  <a:pt x="309501" y="309501"/>
                </a:lnTo>
                <a:lnTo>
                  <a:pt x="0" y="309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47432" y="8717732"/>
            <a:ext cx="540568" cy="540568"/>
            <a:chOff x="0" y="0"/>
            <a:chExt cx="72536" cy="72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747432" y="8177164"/>
            <a:ext cx="540568" cy="540568"/>
            <a:chOff x="0" y="0"/>
            <a:chExt cx="72536" cy="725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70526" y="1341876"/>
            <a:ext cx="10041515" cy="2641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9"/>
              </a:lnSpc>
            </a:pPr>
            <a:r>
              <a:rPr lang="en-US" sz="5503" b="1">
                <a:solidFill>
                  <a:srgbClr val="00FFEC"/>
                </a:solidFill>
                <a:latin typeface="Poppins Bold"/>
                <a:ea typeface="Poppins Bold"/>
                <a:cs typeface="Poppins Bold"/>
                <a:sym typeface="Poppins Bold"/>
              </a:rPr>
              <a:t>DEMOSTRACIÓN DEL RESULTADO DEL PROYECTO</a:t>
            </a:r>
          </a:p>
          <a:p>
            <a:pPr algn="l">
              <a:lnSpc>
                <a:spcPts val="6879"/>
              </a:lnSpc>
            </a:pPr>
            <a:endParaRPr lang="en-US" sz="5503" b="1">
              <a:solidFill>
                <a:srgbClr val="00FFEC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63423" y="4334614"/>
            <a:ext cx="8115300" cy="1046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66"/>
              </a:lnSpc>
            </a:pPr>
            <a:r>
              <a:rPr lang="en-US" sz="3047" i="1">
                <a:solidFill>
                  <a:srgbClr val="FFFFFF"/>
                </a:solidFill>
                <a:latin typeface="Open Sans 1 Italics"/>
                <a:ea typeface="Open Sans 1 Italics"/>
                <a:cs typeface="Open Sans 1 Italics"/>
                <a:sym typeface="Open Sans 1 Italics"/>
              </a:rPr>
              <a:t>*Presentar sistema</a:t>
            </a:r>
          </a:p>
          <a:p>
            <a:pPr algn="l">
              <a:lnSpc>
                <a:spcPts val="4266"/>
              </a:lnSpc>
              <a:spcBef>
                <a:spcPct val="0"/>
              </a:spcBef>
            </a:pPr>
            <a:endParaRPr lang="en-US" sz="3047" i="1">
              <a:solidFill>
                <a:srgbClr val="FFFFFF"/>
              </a:solidFill>
              <a:latin typeface="Open Sans 1 Italics"/>
              <a:ea typeface="Open Sans 1 Italics"/>
              <a:cs typeface="Open Sans 1 Italics"/>
              <a:sym typeface="Open Sans 1 Itali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B28">
                <a:alpha val="100000"/>
              </a:srgbClr>
            </a:gs>
            <a:gs pos="100000">
              <a:srgbClr val="06041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3922" y="337571"/>
            <a:ext cx="309501" cy="309501"/>
          </a:xfrm>
          <a:custGeom>
            <a:avLst/>
            <a:gdLst/>
            <a:ahLst/>
            <a:cxnLst/>
            <a:rect l="l" t="t" r="r" b="b"/>
            <a:pathLst>
              <a:path w="309501" h="309501">
                <a:moveTo>
                  <a:pt x="0" y="0"/>
                </a:moveTo>
                <a:lnTo>
                  <a:pt x="309501" y="0"/>
                </a:lnTo>
                <a:lnTo>
                  <a:pt x="309501" y="309501"/>
                </a:lnTo>
                <a:lnTo>
                  <a:pt x="0" y="309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47432" y="8717732"/>
            <a:ext cx="540568" cy="540568"/>
            <a:chOff x="0" y="0"/>
            <a:chExt cx="72536" cy="72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747432" y="8177164"/>
            <a:ext cx="540568" cy="540568"/>
            <a:chOff x="0" y="0"/>
            <a:chExt cx="72536" cy="725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70526" y="1976498"/>
            <a:ext cx="10041515" cy="9639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9"/>
              </a:lnSpc>
            </a:pPr>
            <a:r>
              <a:rPr lang="en-US" sz="5703" b="1">
                <a:solidFill>
                  <a:srgbClr val="00FFEC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 obtenidos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504820" y="3983452"/>
            <a:ext cx="65707" cy="1806021"/>
            <a:chOff x="0" y="0"/>
            <a:chExt cx="17305" cy="4756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305" cy="475660"/>
            </a:xfrm>
            <a:custGeom>
              <a:avLst/>
              <a:gdLst/>
              <a:ahLst/>
              <a:cxnLst/>
              <a:rect l="l" t="t" r="r" b="b"/>
              <a:pathLst>
                <a:path w="17305" h="475660">
                  <a:moveTo>
                    <a:pt x="0" y="0"/>
                  </a:moveTo>
                  <a:lnTo>
                    <a:pt x="17305" y="0"/>
                  </a:lnTo>
                  <a:lnTo>
                    <a:pt x="17305" y="475660"/>
                  </a:lnTo>
                  <a:lnTo>
                    <a:pt x="0" y="475660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7305" cy="513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B28">
                <a:alpha val="100000"/>
              </a:srgbClr>
            </a:gs>
            <a:gs pos="100000">
              <a:srgbClr val="06041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3922" y="337571"/>
            <a:ext cx="309501" cy="309501"/>
          </a:xfrm>
          <a:custGeom>
            <a:avLst/>
            <a:gdLst/>
            <a:ahLst/>
            <a:cxnLst/>
            <a:rect l="l" t="t" r="r" b="b"/>
            <a:pathLst>
              <a:path w="309501" h="309501">
                <a:moveTo>
                  <a:pt x="0" y="0"/>
                </a:moveTo>
                <a:lnTo>
                  <a:pt x="309501" y="0"/>
                </a:lnTo>
                <a:lnTo>
                  <a:pt x="309501" y="309501"/>
                </a:lnTo>
                <a:lnTo>
                  <a:pt x="0" y="309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47432" y="8717732"/>
            <a:ext cx="540568" cy="540568"/>
            <a:chOff x="0" y="0"/>
            <a:chExt cx="72536" cy="72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747432" y="8177164"/>
            <a:ext cx="540568" cy="540568"/>
            <a:chOff x="0" y="0"/>
            <a:chExt cx="72536" cy="725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53922" y="1565018"/>
            <a:ext cx="10041515" cy="2773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29"/>
              </a:lnSpc>
            </a:pPr>
            <a:r>
              <a:rPr lang="en-US" sz="5703" b="1">
                <a:solidFill>
                  <a:srgbClr val="00FFEC"/>
                </a:solidFill>
                <a:latin typeface="Poppins Bold"/>
                <a:ea typeface="Poppins Bold"/>
                <a:cs typeface="Poppins Bold"/>
                <a:sym typeface="Poppins Bold"/>
              </a:rPr>
              <a:t>Obstáculos presentados durante el desarrollo</a:t>
            </a:r>
          </a:p>
          <a:p>
            <a:pPr algn="l">
              <a:lnSpc>
                <a:spcPts val="7129"/>
              </a:lnSpc>
            </a:pPr>
            <a:endParaRPr lang="en-US" sz="5703" b="1">
              <a:solidFill>
                <a:srgbClr val="00FFEC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504820" y="3983452"/>
            <a:ext cx="65707" cy="1806021"/>
            <a:chOff x="0" y="0"/>
            <a:chExt cx="17305" cy="4756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305" cy="475660"/>
            </a:xfrm>
            <a:custGeom>
              <a:avLst/>
              <a:gdLst/>
              <a:ahLst/>
              <a:cxnLst/>
              <a:rect l="l" t="t" r="r" b="b"/>
              <a:pathLst>
                <a:path w="17305" h="475660">
                  <a:moveTo>
                    <a:pt x="0" y="0"/>
                  </a:moveTo>
                  <a:lnTo>
                    <a:pt x="17305" y="0"/>
                  </a:lnTo>
                  <a:lnTo>
                    <a:pt x="17305" y="475660"/>
                  </a:lnTo>
                  <a:lnTo>
                    <a:pt x="0" y="475660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7305" cy="5137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2B28">
                <a:alpha val="100000"/>
              </a:srgbClr>
            </a:gs>
            <a:gs pos="100000">
              <a:srgbClr val="060417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"/>
            <a:chOff x="0" y="0"/>
            <a:chExt cx="4816593" cy="2709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270933"/>
            </a:xfrm>
            <a:custGeom>
              <a:avLst/>
              <a:gdLst/>
              <a:ahLst/>
              <a:cxnLst/>
              <a:rect l="l" t="t" r="r" b="b"/>
              <a:pathLst>
                <a:path w="4816592" h="270933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53922" y="337571"/>
            <a:ext cx="309501" cy="309501"/>
          </a:xfrm>
          <a:custGeom>
            <a:avLst/>
            <a:gdLst/>
            <a:ahLst/>
            <a:cxnLst/>
            <a:rect l="l" t="t" r="r" b="b"/>
            <a:pathLst>
              <a:path w="309501" h="309501">
                <a:moveTo>
                  <a:pt x="0" y="0"/>
                </a:moveTo>
                <a:lnTo>
                  <a:pt x="309501" y="0"/>
                </a:lnTo>
                <a:lnTo>
                  <a:pt x="309501" y="309501"/>
                </a:lnTo>
                <a:lnTo>
                  <a:pt x="0" y="3095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grpSp>
        <p:nvGrpSpPr>
          <p:cNvPr id="6" name="Group 6"/>
          <p:cNvGrpSpPr/>
          <p:nvPr/>
        </p:nvGrpSpPr>
        <p:grpSpPr>
          <a:xfrm>
            <a:off x="17259300" y="0"/>
            <a:ext cx="1028700" cy="1028700"/>
            <a:chOff x="0" y="0"/>
            <a:chExt cx="270933" cy="27093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747432" y="8717732"/>
            <a:ext cx="540568" cy="540568"/>
            <a:chOff x="0" y="0"/>
            <a:chExt cx="72536" cy="7253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747432" y="8177164"/>
            <a:ext cx="540568" cy="540568"/>
            <a:chOff x="0" y="0"/>
            <a:chExt cx="72536" cy="7253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2536" cy="72536"/>
            </a:xfrm>
            <a:custGeom>
              <a:avLst/>
              <a:gdLst/>
              <a:ahLst/>
              <a:cxnLst/>
              <a:rect l="l" t="t" r="r" b="b"/>
              <a:pathLst>
                <a:path w="72536" h="72536">
                  <a:moveTo>
                    <a:pt x="0" y="0"/>
                  </a:moveTo>
                  <a:lnTo>
                    <a:pt x="72536" y="0"/>
                  </a:lnTo>
                  <a:lnTo>
                    <a:pt x="72536" y="72536"/>
                  </a:lnTo>
                  <a:lnTo>
                    <a:pt x="0" y="72536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s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72536" cy="1106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0" y="3001906"/>
            <a:ext cx="17259300" cy="3596270"/>
            <a:chOff x="0" y="0"/>
            <a:chExt cx="4545659" cy="94716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545659" cy="947166"/>
            </a:xfrm>
            <a:custGeom>
              <a:avLst/>
              <a:gdLst/>
              <a:ahLst/>
              <a:cxnLst/>
              <a:rect l="l" t="t" r="r" b="b"/>
              <a:pathLst>
                <a:path w="4545659" h="947166">
                  <a:moveTo>
                    <a:pt x="0" y="0"/>
                  </a:moveTo>
                  <a:lnTo>
                    <a:pt x="4545659" y="0"/>
                  </a:lnTo>
                  <a:lnTo>
                    <a:pt x="4545659" y="947166"/>
                  </a:lnTo>
                  <a:lnTo>
                    <a:pt x="0" y="947166"/>
                  </a:lnTo>
                  <a:close/>
                </a:path>
              </a:pathLst>
            </a:custGeom>
            <a:solidFill>
              <a:srgbClr val="FFFFFF">
                <a:alpha val="6667"/>
              </a:srgbClr>
            </a:solidFill>
          </p:spPr>
          <p:txBody>
            <a:bodyPr/>
            <a:lstStyle/>
            <a:p>
              <a:endParaRPr lang="es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4545659" cy="985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0" y="3001906"/>
            <a:ext cx="3596270" cy="3596270"/>
            <a:chOff x="0" y="0"/>
            <a:chExt cx="947166" cy="94716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47166" cy="947166"/>
            </a:xfrm>
            <a:custGeom>
              <a:avLst/>
              <a:gdLst/>
              <a:ahLst/>
              <a:cxnLst/>
              <a:rect l="l" t="t" r="r" b="b"/>
              <a:pathLst>
                <a:path w="947166" h="947166">
                  <a:moveTo>
                    <a:pt x="0" y="0"/>
                  </a:moveTo>
                  <a:lnTo>
                    <a:pt x="947166" y="0"/>
                  </a:lnTo>
                  <a:lnTo>
                    <a:pt x="947166" y="947166"/>
                  </a:lnTo>
                  <a:lnTo>
                    <a:pt x="0" y="947166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947166" cy="9852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911150" y="2886941"/>
            <a:ext cx="8473896" cy="3540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07"/>
              </a:lnSpc>
              <a:spcBef>
                <a:spcPct val="0"/>
              </a:spcBef>
            </a:pPr>
            <a:r>
              <a:rPr lang="en-US" sz="9862" b="1">
                <a:solidFill>
                  <a:srgbClr val="00FFEC"/>
                </a:solidFill>
                <a:latin typeface="Poppins Bold"/>
                <a:ea typeface="Poppins Bold"/>
                <a:cs typeface="Poppins Bold"/>
                <a:sym typeface="Poppins Bold"/>
              </a:rPr>
              <a:t>MUCHAS GRACIAS</a:t>
            </a:r>
          </a:p>
        </p:txBody>
      </p:sp>
      <p:sp>
        <p:nvSpPr>
          <p:cNvPr id="22" name="Freeform 22"/>
          <p:cNvSpPr/>
          <p:nvPr/>
        </p:nvSpPr>
        <p:spPr>
          <a:xfrm>
            <a:off x="795384" y="3797289"/>
            <a:ext cx="2005503" cy="2005503"/>
          </a:xfrm>
          <a:custGeom>
            <a:avLst/>
            <a:gdLst/>
            <a:ahLst/>
            <a:cxnLst/>
            <a:rect l="l" t="t" r="r" b="b"/>
            <a:pathLst>
              <a:path w="2005503" h="2005503">
                <a:moveTo>
                  <a:pt x="0" y="0"/>
                </a:moveTo>
                <a:lnTo>
                  <a:pt x="2005503" y="0"/>
                </a:lnTo>
                <a:lnTo>
                  <a:pt x="2005503" y="2005503"/>
                </a:lnTo>
                <a:lnTo>
                  <a:pt x="0" y="20055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2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US"/>
          </a:p>
        </p:txBody>
      </p:sp>
      <p:sp>
        <p:nvSpPr>
          <p:cNvPr id="23" name="TextBox 23"/>
          <p:cNvSpPr txBox="1"/>
          <p:nvPr/>
        </p:nvSpPr>
        <p:spPr>
          <a:xfrm>
            <a:off x="7530501" y="7680800"/>
            <a:ext cx="5479645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FFFFFF"/>
                </a:solidFill>
                <a:latin typeface="Open Sans 1"/>
                <a:ea typeface="Open Sans 1"/>
                <a:cs typeface="Open Sans 1"/>
                <a:sym typeface="Open Sans 1"/>
              </a:rPr>
              <a:t>PREGUNTAS DE LA COMISIÓN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286050" y="7578771"/>
            <a:ext cx="49102" cy="598393"/>
            <a:chOff x="0" y="0"/>
            <a:chExt cx="12932" cy="15760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932" cy="157601"/>
            </a:xfrm>
            <a:custGeom>
              <a:avLst/>
              <a:gdLst/>
              <a:ahLst/>
              <a:cxnLst/>
              <a:rect l="l" t="t" r="r" b="b"/>
              <a:pathLst>
                <a:path w="12932" h="157601">
                  <a:moveTo>
                    <a:pt x="0" y="0"/>
                  </a:moveTo>
                  <a:lnTo>
                    <a:pt x="12932" y="0"/>
                  </a:lnTo>
                  <a:lnTo>
                    <a:pt x="12932" y="157601"/>
                  </a:lnTo>
                  <a:lnTo>
                    <a:pt x="0" y="157601"/>
                  </a:lnTo>
                  <a:close/>
                </a:path>
              </a:pathLst>
            </a:custGeom>
            <a:gradFill rotWithShape="1">
              <a:gsLst>
                <a:gs pos="0">
                  <a:srgbClr val="00FFEC">
                    <a:alpha val="100000"/>
                  </a:srgbClr>
                </a:gs>
                <a:gs pos="100000">
                  <a:srgbClr val="099187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s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2932" cy="195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457</Words>
  <Application>Microsoft Office PowerPoint</Application>
  <PresentationFormat>Personalizado</PresentationFormat>
  <Paragraphs>74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3" baseType="lpstr">
      <vt:lpstr>Open Sans 1</vt:lpstr>
      <vt:lpstr>Arial</vt:lpstr>
      <vt:lpstr>Canva Sans</vt:lpstr>
      <vt:lpstr>Open Sans 1 Bold</vt:lpstr>
      <vt:lpstr>Poppins Bold</vt:lpstr>
      <vt:lpstr>Open Sans 1 Italics</vt:lpstr>
      <vt:lpstr>Open Sans 2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final</dc:title>
  <cp:lastModifiedBy>Janne tsk</cp:lastModifiedBy>
  <cp:revision>2</cp:revision>
  <dcterms:created xsi:type="dcterms:W3CDTF">2006-08-16T00:00:00Z</dcterms:created>
  <dcterms:modified xsi:type="dcterms:W3CDTF">2025-11-14T19:26:52Z</dcterms:modified>
  <dc:identifier>DAG1bXckycM</dc:identifier>
</cp:coreProperties>
</file>